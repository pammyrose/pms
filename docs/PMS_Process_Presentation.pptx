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theme/theme1.xml" ContentType="application/vnd.openxmlformats-officedocument.theme+xml"/>
</Types>
</file>

<file path=_rels/.rel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type="screen16x9"/>
  <p:notesSz cx="6858000" cy="9144000"/>
</p:presentation>
</file>

<file path=ppt/_rels/presentation.xml.rel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s>
</file>

<file path=ppt/notesMasters/_rels/notesMaster1.xml.rel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Introduce PMS as a shared system for monitoring physical and financial targets and accomplishments. This presentation reflects the current workspace, including the revised non-cumulative quarter and annual rules.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Explain that every value belongs to a sector, reporting year, PAP, indicator and office. Physical performance measures outputs. Financial performance covers allotment, obligation, disbursement and utilization.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Walk across the first row, then down and back across the second row. Approval is required only for office-user corrections to locked accomplishment months. The next slides explain each stage.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PENRO dashboard, export and history coverage may include its service area, but entry stays scoped to the assigned office. CENRO and designated office users cannot edit targets. PENRO cannot approve or decline requests. Administrator and Regional Office can review locked corrections.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Failed login attempts show an error and repeated failures are temporarily limited. After login, the dashboard and sector pages apply role and office restrictions. Choose the reporting year before entering data.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Administrator account and PAP management are distinct from office data entry. Supported Excel imports use preview and confirmation. Users then open the relevant physical or financial columns, enter permitted monthly values and save. Column visibility changes presentation, not permissions.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These are the current office-level physical rules. Cumulative quarters sum months and annual sums quarters. Non-cumulative quarters use the most frequent month and annual uses the most frequent quarter. Semi-cumulative quarters sum months and annual uses the highest quarter. Financial values remain additive. Monthly source values are retained.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Current and future accomplishment months save directly for office users. A locked-month correction requires a reason and goes to Administrator or Regional Office review. Those reviewers can directly edit locked accomplishments. Validation and office authorization happen before records are written. A failed save does not confirm an edit.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Review the submitting user, office, sector, PAP, indicator, year, changed months, proposed values and reason. Approving applies the correction and recalculates totals. Declining keeps existing values and requires review notes. Users can track pending, approved and declined status. PENRO is not a reviewer.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A visible edit alone is not proof that it has been saved. After a successful save, reload the same sector and year and compare the month, quarter, annual and aggregate totals. Pending corrections remain pending until approved. History is available to authorized roles and provides traceability; it does not undo a change.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The dashboard filters by office, sector and year within the user’s permitted access. Review physical and financial performance and delays. Excel exports follow the selected sector/year and role-based office coverage. Screen search or hidden columns do not necessarily filter the export. Save and verify data before exporting.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Use this example to demonstrate the table calculation. July and August are 11; September is 69. The quarter uses the repeated monthly value 11. If all four quarters are 11, the annual value is 11. September remains 69. After saving, reload and confirm the office, province, CAR and export results.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t>Close by repeating the process. Setup and access establish who can enter which records. Monthly values drive calculations. Save results must be confirmed, and locked corrections need a decision before becoming official. Monitoring and Excel reports use the confirmed records. End with questions or a live demonstration.</a:t>
            </a:r>
          </a:p>
        </p:txBody>
      </p:sp>
    </p:spTree>
  </p:cSld>
  <p:clrMapOvr>
    <a:masterClrMapping/>
  </p:clrMapOvr>
</p:notes>
</file>

<file path=ppt/slideLayouts/_rels/slideLayout1.xml.rel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Performance Monitoring System</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DENR-CAR  |  Complete process and user workflow</a:t>
            </a:r>
            <a:endParaRPr lang="en-US"/>
          </a:p>
        </p:txBody>
      </p:sp>
      <p:sp>
        <p:nvSpPr>
          <p:cNvPr id="5" name="Shape 5"/>
          <p:cNvSpPr/>
          <p:nvPr/>
        </p:nvSpPr>
        <p:spPr>
          <a:xfrm>
            <a:off x="502920" y="1691640"/>
            <a:ext cx="11155680" cy="3337560"/>
          </a:xfrm>
          <a:prstGeom prst="roundRect">
            <a:avLst/>
          </a:prstGeom>
          <a:solidFill>
            <a:srgbClr val="17365D"/>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6" name="Shape 6"/>
          <p:cNvSpPr/>
          <p:nvPr/>
        </p:nvSpPr>
        <p:spPr>
          <a:xfrm>
            <a:off x="868680" y="2057400"/>
            <a:ext cx="9966960" cy="1371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400" b="1">
                <a:solidFill>
                  <a:srgbClr val="FFFFFF"/>
                </a:solidFill>
                <a:latin typeface="Aptos"/>
              </a:rPr>
              <a:t>From office data entry</a:t>
            </a:r>
            <a:endParaRPr lang="en-US"/>
          </a:p>
          <a:p>
            <a:pPr algn="l">
              <a:lnSpc>
                <a:spcPct val="110000"/>
              </a:lnSpc>
              <a:spcAft>
                <a:spcPts val="650"/>
              </a:spcAft>
            </a:pPr>
            <a:r>
              <a:rPr lang="en-US" sz="3400" b="1">
                <a:solidFill>
                  <a:srgbClr val="FFFFFF"/>
                </a:solidFill>
                <a:latin typeface="Aptos"/>
              </a:rPr>
              <a:t>to consolidated performance reports</a:t>
            </a:r>
            <a:endParaRPr lang="en-US"/>
          </a:p>
        </p:txBody>
      </p:sp>
      <p:sp>
        <p:nvSpPr>
          <p:cNvPr id="7" name="Shape 7"/>
          <p:cNvSpPr/>
          <p:nvPr/>
        </p:nvSpPr>
        <p:spPr>
          <a:xfrm>
            <a:off x="868680" y="3886200"/>
            <a:ext cx="987552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0">
                <a:solidFill>
                  <a:srgbClr val="B9E8E4"/>
                </a:solidFill>
                <a:latin typeface="Aptos"/>
              </a:rPr>
              <a:t>Login  /  Permissions  /  Entry  /  Approval  /  Reporting</a:t>
            </a:r>
            <a:endParaRPr lang="en-US"/>
          </a:p>
        </p:txBody>
      </p:sp>
      <p:sp>
        <p:nvSpPr>
          <p:cNvPr id="8" name="Shape 8"/>
          <p:cNvSpPr/>
          <p:nvPr/>
        </p:nvSpPr>
        <p:spPr>
          <a:xfrm>
            <a:off x="640080" y="5486400"/>
            <a:ext cx="1069848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System walkthrough  •  7 October 2026</a:t>
            </a:r>
            <a:endParaRPr lang="en-US"/>
          </a:p>
        </p:txBody>
      </p:sp>
      <p:sp>
        <p:nvSpPr>
          <p:cNvPr id="9" name="Shape 9"/>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01 / 13</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What PMS brings together</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One reporting structure for physical and financial performance</a:t>
            </a:r>
            <a:endParaRPr lang="en-US"/>
          </a:p>
        </p:txBody>
      </p:sp>
      <p:sp>
        <p:nvSpPr>
          <p:cNvPr id="5" name="Shape 5"/>
          <p:cNvSpPr/>
          <p:nvPr/>
        </p:nvSpPr>
        <p:spPr>
          <a:xfrm>
            <a:off x="548640" y="1783080"/>
            <a:ext cx="3520440" cy="30632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6" name="Shape 6"/>
          <p:cNvSpPr/>
          <p:nvPr/>
        </p:nvSpPr>
        <p:spPr>
          <a:xfrm>
            <a:off x="548640" y="1783080"/>
            <a:ext cx="64008" cy="306324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731520" y="194767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Physical performance</a:t>
            </a:r>
            <a:endParaRPr lang="en-US"/>
          </a:p>
        </p:txBody>
      </p:sp>
      <p:sp>
        <p:nvSpPr>
          <p:cNvPr id="8" name="Shape 8"/>
          <p:cNvSpPr/>
          <p:nvPr/>
        </p:nvSpPr>
        <p:spPr>
          <a:xfrm>
            <a:off x="731520" y="2587752"/>
            <a:ext cx="3154680" cy="21122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Targets and accomplishments</a:t>
            </a:r>
            <a:endParaRPr lang="en-US"/>
          </a:p>
          <a:p>
            <a:pPr algn="l">
              <a:lnSpc>
                <a:spcPct val="110000"/>
              </a:lnSpc>
              <a:spcAft>
                <a:spcPts val="650"/>
              </a:spcAft>
            </a:pPr>
            <a:r>
              <a:rPr lang="en-US" sz="1900" b="0">
                <a:solidFill>
                  <a:srgbClr val="213547"/>
                </a:solidFill>
                <a:latin typeface="Aptos"/>
              </a:rPr>
              <a:t>Monthly, quarterly and annual values</a:t>
            </a:r>
            <a:endParaRPr lang="en-US"/>
          </a:p>
          <a:p>
            <a:pPr algn="l">
              <a:lnSpc>
                <a:spcPct val="110000"/>
              </a:lnSpc>
              <a:spcAft>
                <a:spcPts val="650"/>
              </a:spcAft>
            </a:pPr>
            <a:r>
              <a:rPr lang="en-US" sz="1900" b="0">
                <a:solidFill>
                  <a:srgbClr val="213547"/>
                </a:solidFill>
                <a:latin typeface="Aptos"/>
              </a:rPr>
              <a:t>Indicator-specific calculation rules</a:t>
            </a:r>
            <a:endParaRPr lang="en-US"/>
          </a:p>
        </p:txBody>
      </p:sp>
      <p:sp>
        <p:nvSpPr>
          <p:cNvPr id="9" name="Shape 9"/>
          <p:cNvSpPr/>
          <p:nvPr/>
        </p:nvSpPr>
        <p:spPr>
          <a:xfrm>
            <a:off x="4325112" y="1783080"/>
            <a:ext cx="3520440" cy="30632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0" name="Shape 10"/>
          <p:cNvSpPr/>
          <p:nvPr/>
        </p:nvSpPr>
        <p:spPr>
          <a:xfrm>
            <a:off x="4325112" y="1783080"/>
            <a:ext cx="64008" cy="306324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4507992" y="194767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Financial performance</a:t>
            </a:r>
            <a:endParaRPr lang="en-US"/>
          </a:p>
        </p:txBody>
      </p:sp>
      <p:sp>
        <p:nvSpPr>
          <p:cNvPr id="12" name="Shape 12"/>
          <p:cNvSpPr/>
          <p:nvPr/>
        </p:nvSpPr>
        <p:spPr>
          <a:xfrm>
            <a:off x="4507992" y="2587752"/>
            <a:ext cx="3154680" cy="21122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Allotment, obligation and disbursement</a:t>
            </a:r>
            <a:endParaRPr lang="en-US"/>
          </a:p>
          <a:p>
            <a:pPr algn="l">
              <a:lnSpc>
                <a:spcPct val="110000"/>
              </a:lnSpc>
              <a:spcAft>
                <a:spcPts val="650"/>
              </a:spcAft>
            </a:pPr>
            <a:r>
              <a:rPr lang="en-US" sz="1900" b="0">
                <a:solidFill>
                  <a:srgbClr val="213547"/>
                </a:solidFill>
                <a:latin typeface="Aptos"/>
              </a:rPr>
              <a:t>Budget utilization ratios</a:t>
            </a:r>
            <a:endParaRPr lang="en-US"/>
          </a:p>
          <a:p>
            <a:pPr algn="l">
              <a:lnSpc>
                <a:spcPct val="110000"/>
              </a:lnSpc>
              <a:spcAft>
                <a:spcPts val="650"/>
              </a:spcAft>
            </a:pPr>
            <a:r>
              <a:rPr lang="en-US" sz="1900" b="0">
                <a:solidFill>
                  <a:srgbClr val="213547"/>
                </a:solidFill>
                <a:latin typeface="Aptos"/>
              </a:rPr>
              <a:t>Office and program summaries</a:t>
            </a:r>
            <a:endParaRPr lang="en-US"/>
          </a:p>
        </p:txBody>
      </p:sp>
      <p:sp>
        <p:nvSpPr>
          <p:cNvPr id="13" name="Shape 13"/>
          <p:cNvSpPr/>
          <p:nvPr/>
        </p:nvSpPr>
        <p:spPr>
          <a:xfrm>
            <a:off x="8101584" y="1783080"/>
            <a:ext cx="3520440" cy="30632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4" name="Shape 14"/>
          <p:cNvSpPr/>
          <p:nvPr/>
        </p:nvSpPr>
        <p:spPr>
          <a:xfrm>
            <a:off x="8101584" y="1783080"/>
            <a:ext cx="64008" cy="3063240"/>
          </a:xfrm>
          <a:prstGeom prst="rect">
            <a:avLst/>
          </a:prstGeom>
          <a:solidFill>
            <a:srgbClr val="17365D"/>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8284464" y="194767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7365D"/>
                </a:solidFill>
                <a:latin typeface="Aptos"/>
              </a:rPr>
              <a:t>Reporting scope</a:t>
            </a:r>
            <a:endParaRPr lang="en-US"/>
          </a:p>
        </p:txBody>
      </p:sp>
      <p:sp>
        <p:nvSpPr>
          <p:cNvPr id="16" name="Shape 16"/>
          <p:cNvSpPr/>
          <p:nvPr/>
        </p:nvSpPr>
        <p:spPr>
          <a:xfrm>
            <a:off x="8284464" y="2587752"/>
            <a:ext cx="3154680" cy="21122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Sector and reporting year</a:t>
            </a:r>
            <a:endParaRPr lang="en-US"/>
          </a:p>
          <a:p>
            <a:pPr algn="l">
              <a:lnSpc>
                <a:spcPct val="110000"/>
              </a:lnSpc>
              <a:spcAft>
                <a:spcPts val="650"/>
              </a:spcAft>
            </a:pPr>
            <a:r>
              <a:rPr lang="en-US" sz="1900" b="0">
                <a:solidFill>
                  <a:srgbClr val="213547"/>
                </a:solidFill>
                <a:latin typeface="Aptos"/>
              </a:rPr>
              <a:t>Program / Activity / Project (PAP)</a:t>
            </a:r>
            <a:endParaRPr lang="en-US"/>
          </a:p>
          <a:p>
            <a:pPr algn="l">
              <a:lnSpc>
                <a:spcPct val="110000"/>
              </a:lnSpc>
              <a:spcAft>
                <a:spcPts val="650"/>
              </a:spcAft>
            </a:pPr>
            <a:r>
              <a:rPr lang="en-US" sz="1900" b="0">
                <a:solidFill>
                  <a:srgbClr val="213547"/>
                </a:solidFill>
                <a:latin typeface="Aptos"/>
              </a:rPr>
              <a:t>Indicator and responsible office</a:t>
            </a:r>
            <a:endParaRPr lang="en-US"/>
          </a:p>
        </p:txBody>
      </p:sp>
      <p:sp>
        <p:nvSpPr>
          <p:cNvPr id="17" name="Shape 17"/>
          <p:cNvSpPr/>
          <p:nvPr/>
        </p:nvSpPr>
        <p:spPr>
          <a:xfrm>
            <a:off x="640080" y="5257800"/>
            <a:ext cx="1088136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11 sectors: GASS, STO, ENF, PA, ENGP, LANDS, SOILCON, NRA, PARIA, COBB and Continuing.</a:t>
            </a:r>
            <a:endParaRPr lang="en-US"/>
          </a:p>
        </p:txBody>
      </p:sp>
      <p:sp>
        <p:nvSpPr>
          <p:cNvPr id="18" name="Shape 18"/>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02 / 13</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The complete process at a glance</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Follow the record from login to reporting</a:t>
            </a:r>
            <a:endParaRPr lang="en-US"/>
          </a:p>
        </p:txBody>
      </p:sp>
      <p:sp>
        <p:nvSpPr>
          <p:cNvPr id="5" name="Shape 5"/>
          <p:cNvSpPr/>
          <p:nvPr/>
        </p:nvSpPr>
        <p:spPr>
          <a:xfrm>
            <a:off x="594360" y="1874520"/>
            <a:ext cx="2423160" cy="105156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1  Sign in</a:t>
            </a:r>
            <a:endParaRPr lang="en-US"/>
          </a:p>
        </p:txBody>
      </p:sp>
      <p:sp>
        <p:nvSpPr>
          <p:cNvPr id="6" name="Shape 6"/>
          <p:cNvSpPr/>
          <p:nvPr/>
        </p:nvSpPr>
        <p:spPr>
          <a:xfrm>
            <a:off x="3474720" y="1874520"/>
            <a:ext cx="2423160" cy="105156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2  Check role</a:t>
            </a:r>
            <a:endParaRPr lang="en-US"/>
          </a:p>
          <a:p>
            <a:pPr algn="ctr">
              <a:lnSpc>
                <a:spcPct val="110000"/>
              </a:lnSpc>
              <a:spcAft>
                <a:spcPts val="650"/>
              </a:spcAft>
            </a:pPr>
            <a:r>
              <a:rPr lang="en-US" sz="2000" b="1">
                <a:solidFill>
                  <a:srgbClr val="FFFFFF"/>
                </a:solidFill>
                <a:latin typeface="Aptos"/>
              </a:rPr>
              <a:t>and office</a:t>
            </a:r>
            <a:endParaRPr lang="en-US"/>
          </a:p>
        </p:txBody>
      </p:sp>
      <p:sp>
        <p:nvSpPr>
          <p:cNvPr id="7" name="Shape 7"/>
          <p:cNvSpPr/>
          <p:nvPr/>
        </p:nvSpPr>
        <p:spPr>
          <a:xfrm>
            <a:off x="6355080" y="1874520"/>
            <a:ext cx="2423160" cy="105156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3  Select sector</a:t>
            </a:r>
            <a:endParaRPr lang="en-US"/>
          </a:p>
          <a:p>
            <a:pPr algn="ctr">
              <a:lnSpc>
                <a:spcPct val="110000"/>
              </a:lnSpc>
              <a:spcAft>
                <a:spcPts val="650"/>
              </a:spcAft>
            </a:pPr>
            <a:r>
              <a:rPr lang="en-US" sz="2000" b="1">
                <a:solidFill>
                  <a:srgbClr val="FFFFFF"/>
                </a:solidFill>
                <a:latin typeface="Aptos"/>
              </a:rPr>
              <a:t>and year</a:t>
            </a:r>
            <a:endParaRPr lang="en-US"/>
          </a:p>
        </p:txBody>
      </p:sp>
      <p:sp>
        <p:nvSpPr>
          <p:cNvPr id="8" name="Shape 8"/>
          <p:cNvSpPr/>
          <p:nvPr/>
        </p:nvSpPr>
        <p:spPr>
          <a:xfrm>
            <a:off x="9235440" y="1874520"/>
            <a:ext cx="2423160" cy="105156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4  Enter or</a:t>
            </a:r>
            <a:endParaRPr lang="en-US"/>
          </a:p>
          <a:p>
            <a:pPr algn="ctr">
              <a:lnSpc>
                <a:spcPct val="110000"/>
              </a:lnSpc>
              <a:spcAft>
                <a:spcPts val="650"/>
              </a:spcAft>
            </a:pPr>
            <a:r>
              <a:rPr lang="en-US" sz="2000" b="1">
                <a:solidFill>
                  <a:srgbClr val="FFFFFF"/>
                </a:solidFill>
                <a:latin typeface="Aptos"/>
              </a:rPr>
              <a:t>update data</a:t>
            </a:r>
            <a:endParaRPr lang="en-US"/>
          </a:p>
        </p:txBody>
      </p:sp>
      <p:sp>
        <p:nvSpPr>
          <p:cNvPr id="9" name="Shape 9"/>
          <p:cNvSpPr/>
          <p:nvPr/>
        </p:nvSpPr>
        <p:spPr>
          <a:xfrm>
            <a:off x="594360" y="3520440"/>
            <a:ext cx="2423160" cy="1051560"/>
          </a:xfrm>
          <a:prstGeom prst="round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8  Monitor and</a:t>
            </a:r>
            <a:endParaRPr lang="en-US"/>
          </a:p>
          <a:p>
            <a:pPr algn="ctr">
              <a:lnSpc>
                <a:spcPct val="110000"/>
              </a:lnSpc>
              <a:spcAft>
                <a:spcPts val="650"/>
              </a:spcAft>
            </a:pPr>
            <a:r>
              <a:rPr lang="en-US" sz="2000" b="1">
                <a:solidFill>
                  <a:srgbClr val="FFFFFF"/>
                </a:solidFill>
                <a:latin typeface="Aptos"/>
              </a:rPr>
              <a:t>export reports</a:t>
            </a:r>
            <a:endParaRPr lang="en-US"/>
          </a:p>
        </p:txBody>
      </p:sp>
      <p:sp>
        <p:nvSpPr>
          <p:cNvPr id="10" name="Shape 10"/>
          <p:cNvSpPr/>
          <p:nvPr/>
        </p:nvSpPr>
        <p:spPr>
          <a:xfrm>
            <a:off x="3474720" y="3520440"/>
            <a:ext cx="2423160" cy="1051560"/>
          </a:xfrm>
          <a:prstGeom prst="round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7  Reload and</a:t>
            </a:r>
            <a:endParaRPr lang="en-US"/>
          </a:p>
          <a:p>
            <a:pPr algn="ctr">
              <a:lnSpc>
                <a:spcPct val="110000"/>
              </a:lnSpc>
              <a:spcAft>
                <a:spcPts val="650"/>
              </a:spcAft>
            </a:pPr>
            <a:r>
              <a:rPr lang="en-US" sz="2000" b="1">
                <a:solidFill>
                  <a:srgbClr val="FFFFFF"/>
                </a:solidFill>
                <a:latin typeface="Aptos"/>
              </a:rPr>
              <a:t>verify values</a:t>
            </a:r>
            <a:endParaRPr lang="en-US"/>
          </a:p>
        </p:txBody>
      </p:sp>
      <p:sp>
        <p:nvSpPr>
          <p:cNvPr id="11" name="Shape 11"/>
          <p:cNvSpPr/>
          <p:nvPr/>
        </p:nvSpPr>
        <p:spPr>
          <a:xfrm>
            <a:off x="6355080" y="3520440"/>
            <a:ext cx="2423160" cy="1051560"/>
          </a:xfrm>
          <a:prstGeom prst="round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6  Save or route</a:t>
            </a:r>
            <a:endParaRPr lang="en-US"/>
          </a:p>
          <a:p>
            <a:pPr algn="ctr">
              <a:lnSpc>
                <a:spcPct val="110000"/>
              </a:lnSpc>
              <a:spcAft>
                <a:spcPts val="650"/>
              </a:spcAft>
            </a:pPr>
            <a:r>
              <a:rPr lang="en-US" sz="2000" b="1">
                <a:solidFill>
                  <a:srgbClr val="FFFFFF"/>
                </a:solidFill>
                <a:latin typeface="Aptos"/>
              </a:rPr>
              <a:t>for approval</a:t>
            </a:r>
            <a:endParaRPr lang="en-US"/>
          </a:p>
        </p:txBody>
      </p:sp>
      <p:sp>
        <p:nvSpPr>
          <p:cNvPr id="12" name="Shape 12"/>
          <p:cNvSpPr/>
          <p:nvPr/>
        </p:nvSpPr>
        <p:spPr>
          <a:xfrm>
            <a:off x="9235440" y="3520440"/>
            <a:ext cx="2423160" cy="1051560"/>
          </a:xfrm>
          <a:prstGeom prst="round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5  Calculate and</a:t>
            </a:r>
            <a:endParaRPr lang="en-US"/>
          </a:p>
          <a:p>
            <a:pPr algn="ctr">
              <a:lnSpc>
                <a:spcPct val="110000"/>
              </a:lnSpc>
              <a:spcAft>
                <a:spcPts val="650"/>
              </a:spcAft>
            </a:pPr>
            <a:r>
              <a:rPr lang="en-US" sz="2000" b="1">
                <a:solidFill>
                  <a:srgbClr val="FFFFFF"/>
                </a:solidFill>
                <a:latin typeface="Aptos"/>
              </a:rPr>
              <a:t>validate</a:t>
            </a:r>
            <a:endParaRPr lang="en-US"/>
          </a:p>
        </p:txBody>
      </p:sp>
      <p:sp>
        <p:nvSpPr>
          <p:cNvPr id="13" name="Shape 13"/>
          <p:cNvSpPr/>
          <p:nvPr/>
        </p:nvSpPr>
        <p:spPr>
          <a:xfrm>
            <a:off x="3063240" y="2286000"/>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4" name="Shape 14"/>
          <p:cNvSpPr/>
          <p:nvPr/>
        </p:nvSpPr>
        <p:spPr>
          <a:xfrm>
            <a:off x="3063240" y="3931920"/>
            <a:ext cx="347472" cy="237744"/>
          </a:xfrm>
          <a:prstGeom prst="lef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5943600" y="2286000"/>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6" name="Shape 16"/>
          <p:cNvSpPr/>
          <p:nvPr/>
        </p:nvSpPr>
        <p:spPr>
          <a:xfrm>
            <a:off x="5943600" y="3931920"/>
            <a:ext cx="347472" cy="237744"/>
          </a:xfrm>
          <a:prstGeom prst="lef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7" name="Shape 17"/>
          <p:cNvSpPr/>
          <p:nvPr/>
        </p:nvSpPr>
        <p:spPr>
          <a:xfrm>
            <a:off x="8823960" y="2286000"/>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8" name="Shape 18"/>
          <p:cNvSpPr/>
          <p:nvPr/>
        </p:nvSpPr>
        <p:spPr>
          <a:xfrm>
            <a:off x="8823960" y="3931920"/>
            <a:ext cx="347472" cy="237744"/>
          </a:xfrm>
          <a:prstGeom prst="lef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9" name="Shape 19"/>
          <p:cNvSpPr/>
          <p:nvPr/>
        </p:nvSpPr>
        <p:spPr>
          <a:xfrm>
            <a:off x="10332720" y="3063240"/>
            <a:ext cx="274320" cy="320040"/>
          </a:xfrm>
          <a:prstGeom prst="down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20" name="Shape 20"/>
          <p:cNvSpPr/>
          <p:nvPr/>
        </p:nvSpPr>
        <p:spPr>
          <a:xfrm>
            <a:off x="685800" y="5074920"/>
            <a:ext cx="10698480" cy="82296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200" b="0">
                <a:solidFill>
                  <a:srgbClr val="213547"/>
                </a:solidFill>
                <a:latin typeface="Aptos"/>
              </a:rPr>
              <a:t>After verification, users can continue editing, review request status, generate reports or log out.</a:t>
            </a:r>
            <a:endParaRPr lang="en-US"/>
          </a:p>
        </p:txBody>
      </p:sp>
      <p:sp>
        <p:nvSpPr>
          <p:cNvPr id="21" name="Shape 21"/>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03 / 13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Who can do what?</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Office coverage and editing permission are checked separately</a:t>
            </a:r>
            <a:endParaRPr lang="en-US"/>
          </a:p>
        </p:txBody>
      </p:sp>
      <p:sp>
        <p:nvSpPr>
          <p:cNvPr id="5" name="Shape 5"/>
          <p:cNvSpPr/>
          <p:nvPr/>
        </p:nvSpPr>
        <p:spPr>
          <a:xfrm>
            <a:off x="594360" y="1737360"/>
            <a:ext cx="5349240" cy="19659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6" name="Shape 6"/>
          <p:cNvSpPr/>
          <p:nvPr/>
        </p:nvSpPr>
        <p:spPr>
          <a:xfrm>
            <a:off x="594360" y="1737360"/>
            <a:ext cx="64008" cy="196596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777240" y="1901952"/>
            <a:ext cx="49834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Administrator</a:t>
            </a:r>
            <a:endParaRPr lang="en-US"/>
          </a:p>
        </p:txBody>
      </p:sp>
      <p:sp>
        <p:nvSpPr>
          <p:cNvPr id="8" name="Shape 8"/>
          <p:cNvSpPr/>
          <p:nvPr/>
        </p:nvSpPr>
        <p:spPr>
          <a:xfrm>
            <a:off x="777240" y="2542032"/>
            <a:ext cx="4983480" cy="10149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Manage accounts, PAPs, indicators and imports.</a:t>
            </a:r>
            <a:endParaRPr lang="en-US"/>
          </a:p>
          <a:p>
            <a:pPr algn="l">
              <a:lnSpc>
                <a:spcPct val="110000"/>
              </a:lnSpc>
              <a:spcAft>
                <a:spcPts val="650"/>
              </a:spcAft>
            </a:pPr>
            <a:r>
              <a:rPr lang="en-US" sz="1900" b="0">
                <a:solidFill>
                  <a:srgbClr val="213547"/>
                </a:solidFill>
                <a:latin typeface="Aptos"/>
              </a:rPr>
              <a:t>Maintain records and review locked corrections.</a:t>
            </a:r>
            <a:endParaRPr lang="en-US"/>
          </a:p>
        </p:txBody>
      </p:sp>
      <p:sp>
        <p:nvSpPr>
          <p:cNvPr id="9" name="Shape 9"/>
          <p:cNvSpPr/>
          <p:nvPr/>
        </p:nvSpPr>
        <p:spPr>
          <a:xfrm>
            <a:off x="6217920" y="1737360"/>
            <a:ext cx="5349240" cy="19659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0" name="Shape 10"/>
          <p:cNvSpPr/>
          <p:nvPr/>
        </p:nvSpPr>
        <p:spPr>
          <a:xfrm>
            <a:off x="6217920" y="1737360"/>
            <a:ext cx="64008" cy="196596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6400800" y="1901952"/>
            <a:ext cx="49834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Regional Office</a:t>
            </a:r>
            <a:endParaRPr lang="en-US"/>
          </a:p>
        </p:txBody>
      </p:sp>
      <p:sp>
        <p:nvSpPr>
          <p:cNvPr id="12" name="Shape 12"/>
          <p:cNvSpPr/>
          <p:nvPr/>
        </p:nvSpPr>
        <p:spPr>
          <a:xfrm>
            <a:off x="6400800" y="2542032"/>
            <a:ext cx="4983480" cy="10149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Monitor consolidated performance and maintain</a:t>
            </a:r>
            <a:endParaRPr lang="en-US"/>
          </a:p>
          <a:p>
            <a:pPr algn="l">
              <a:lnSpc>
                <a:spcPct val="110000"/>
              </a:lnSpc>
              <a:spcAft>
                <a:spcPts val="650"/>
              </a:spcAft>
            </a:pPr>
            <a:r>
              <a:rPr lang="en-US" sz="1900" b="0">
                <a:solidFill>
                  <a:srgbClr val="213547"/>
                </a:solidFill>
                <a:latin typeface="Aptos"/>
              </a:rPr>
              <a:t>authorized accomplishments. Review corrections.</a:t>
            </a:r>
            <a:endParaRPr lang="en-US"/>
          </a:p>
        </p:txBody>
      </p:sp>
      <p:sp>
        <p:nvSpPr>
          <p:cNvPr id="13" name="Shape 13"/>
          <p:cNvSpPr/>
          <p:nvPr/>
        </p:nvSpPr>
        <p:spPr>
          <a:xfrm>
            <a:off x="594360" y="3931920"/>
            <a:ext cx="5349240" cy="19659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4" name="Shape 14"/>
          <p:cNvSpPr/>
          <p:nvPr/>
        </p:nvSpPr>
        <p:spPr>
          <a:xfrm>
            <a:off x="594360" y="3931920"/>
            <a:ext cx="64008" cy="196596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777240" y="4096512"/>
            <a:ext cx="49834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PENRO</a:t>
            </a:r>
            <a:endParaRPr lang="en-US"/>
          </a:p>
        </p:txBody>
      </p:sp>
      <p:sp>
        <p:nvSpPr>
          <p:cNvPr id="16" name="Shape 16"/>
          <p:cNvSpPr/>
          <p:nvPr/>
        </p:nvSpPr>
        <p:spPr>
          <a:xfrm>
            <a:off x="777240" y="4736592"/>
            <a:ext cx="4983480" cy="10149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Enter assigned-office targets and accomplishments.</a:t>
            </a:r>
            <a:endParaRPr lang="en-US"/>
          </a:p>
          <a:p>
            <a:pPr algn="l">
              <a:lnSpc>
                <a:spcPct val="110000"/>
              </a:lnSpc>
              <a:spcAft>
                <a:spcPts val="650"/>
              </a:spcAft>
            </a:pPr>
            <a:r>
              <a:rPr lang="en-US" sz="1900" b="0">
                <a:solidFill>
                  <a:srgbClr val="213547"/>
                </a:solidFill>
                <a:latin typeface="Aptos"/>
              </a:rPr>
              <a:t>Track requests; view permitted provincial coverage.</a:t>
            </a:r>
            <a:endParaRPr lang="en-US"/>
          </a:p>
        </p:txBody>
      </p:sp>
      <p:sp>
        <p:nvSpPr>
          <p:cNvPr id="17" name="Shape 17"/>
          <p:cNvSpPr/>
          <p:nvPr/>
        </p:nvSpPr>
        <p:spPr>
          <a:xfrm>
            <a:off x="6217920" y="3931920"/>
            <a:ext cx="5349240" cy="19659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8" name="Shape 18"/>
          <p:cNvSpPr/>
          <p:nvPr/>
        </p:nvSpPr>
        <p:spPr>
          <a:xfrm>
            <a:off x="6217920" y="3931920"/>
            <a:ext cx="64008" cy="196596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9" name="Shape 19"/>
          <p:cNvSpPr/>
          <p:nvPr/>
        </p:nvSpPr>
        <p:spPr>
          <a:xfrm>
            <a:off x="6400800" y="4096512"/>
            <a:ext cx="49834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CENRO / designated user</a:t>
            </a:r>
            <a:endParaRPr lang="en-US"/>
          </a:p>
        </p:txBody>
      </p:sp>
      <p:sp>
        <p:nvSpPr>
          <p:cNvPr id="20" name="Shape 20"/>
          <p:cNvSpPr/>
          <p:nvPr/>
        </p:nvSpPr>
        <p:spPr>
          <a:xfrm>
            <a:off x="6400800" y="4736592"/>
            <a:ext cx="4983480" cy="10149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Enter assigned-office accomplishments.</a:t>
            </a:r>
            <a:endParaRPr lang="en-US"/>
          </a:p>
          <a:p>
            <a:pPr algn="l">
              <a:lnSpc>
                <a:spcPct val="110000"/>
              </a:lnSpc>
              <a:spcAft>
                <a:spcPts val="650"/>
              </a:spcAft>
            </a:pPr>
            <a:r>
              <a:rPr lang="en-US" sz="1900" b="0">
                <a:solidFill>
                  <a:srgbClr val="213547"/>
                </a:solidFill>
                <a:latin typeface="Aptos"/>
              </a:rPr>
              <a:t>Targets are read-only; track own correction requests.</a:t>
            </a:r>
            <a:endParaRPr lang="en-US"/>
          </a:p>
        </p:txBody>
      </p:sp>
      <p:sp>
        <p:nvSpPr>
          <p:cNvPr id="21" name="Shape 21"/>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04 / 13</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Sign in and choose the reporting scope</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Check the context before reading or entering any values</a:t>
            </a:r>
            <a:endParaRPr lang="en-US"/>
          </a:p>
        </p:txBody>
      </p:sp>
      <p:sp>
        <p:nvSpPr>
          <p:cNvPr id="5" name="Shape 5"/>
          <p:cNvSpPr/>
          <p:nvPr/>
        </p:nvSpPr>
        <p:spPr>
          <a:xfrm>
            <a:off x="594360" y="2057400"/>
            <a:ext cx="1874520" cy="1005840"/>
          </a:xfrm>
          <a:prstGeom prst="roundRect">
            <a:avLst/>
          </a:prstGeom>
          <a:solidFill>
            <a:srgbClr val="2146B5"/>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Sign in</a:t>
            </a:r>
            <a:endParaRPr lang="en-US"/>
          </a:p>
        </p:txBody>
      </p:sp>
      <p:sp>
        <p:nvSpPr>
          <p:cNvPr id="6" name="Shape 6"/>
          <p:cNvSpPr/>
          <p:nvPr/>
        </p:nvSpPr>
        <p:spPr>
          <a:xfrm>
            <a:off x="2514600" y="2450592"/>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2926080" y="2057400"/>
            <a:ext cx="1874520" cy="100584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Dashboard</a:t>
            </a:r>
            <a:endParaRPr lang="en-US"/>
          </a:p>
        </p:txBody>
      </p:sp>
      <p:sp>
        <p:nvSpPr>
          <p:cNvPr id="8" name="Shape 8"/>
          <p:cNvSpPr/>
          <p:nvPr/>
        </p:nvSpPr>
        <p:spPr>
          <a:xfrm>
            <a:off x="4846320" y="2450592"/>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9" name="Shape 9"/>
          <p:cNvSpPr/>
          <p:nvPr/>
        </p:nvSpPr>
        <p:spPr>
          <a:xfrm>
            <a:off x="5257800" y="2057400"/>
            <a:ext cx="1874520" cy="100584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Office coverage</a:t>
            </a:r>
            <a:endParaRPr lang="en-US"/>
          </a:p>
        </p:txBody>
      </p:sp>
      <p:sp>
        <p:nvSpPr>
          <p:cNvPr id="10" name="Shape 10"/>
          <p:cNvSpPr/>
          <p:nvPr/>
        </p:nvSpPr>
        <p:spPr>
          <a:xfrm>
            <a:off x="7178040" y="2450592"/>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7589520" y="2057400"/>
            <a:ext cx="1874520" cy="100584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Sector</a:t>
            </a:r>
            <a:endParaRPr lang="en-US"/>
          </a:p>
        </p:txBody>
      </p:sp>
      <p:sp>
        <p:nvSpPr>
          <p:cNvPr id="12" name="Shape 12"/>
          <p:cNvSpPr/>
          <p:nvPr/>
        </p:nvSpPr>
        <p:spPr>
          <a:xfrm>
            <a:off x="9509760" y="2450592"/>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3" name="Shape 13"/>
          <p:cNvSpPr/>
          <p:nvPr/>
        </p:nvSpPr>
        <p:spPr>
          <a:xfrm>
            <a:off x="9921240" y="2057400"/>
            <a:ext cx="1874520" cy="100584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Reporting year</a:t>
            </a:r>
            <a:endParaRPr lang="en-US"/>
          </a:p>
        </p:txBody>
      </p:sp>
      <p:sp>
        <p:nvSpPr>
          <p:cNvPr id="14" name="Shape 14"/>
          <p:cNvSpPr/>
          <p:nvPr/>
        </p:nvSpPr>
        <p:spPr>
          <a:xfrm>
            <a:off x="640080" y="3703320"/>
            <a:ext cx="5303520" cy="19202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640080" y="3703320"/>
            <a:ext cx="64008" cy="192024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6" name="Shape 16"/>
          <p:cNvSpPr/>
          <p:nvPr/>
        </p:nvSpPr>
        <p:spPr>
          <a:xfrm>
            <a:off x="822960" y="386791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Check your account</a:t>
            </a:r>
            <a:endParaRPr lang="en-US"/>
          </a:p>
        </p:txBody>
      </p:sp>
      <p:sp>
        <p:nvSpPr>
          <p:cNvPr id="17" name="Shape 17"/>
          <p:cNvSpPr/>
          <p:nvPr/>
        </p:nvSpPr>
        <p:spPr>
          <a:xfrm>
            <a:off x="822960" y="4507992"/>
            <a:ext cx="4937760" cy="9692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Confirm your role and office assignment.\nAvailable actions depend on both.</a:t>
            </a:r>
            <a:endParaRPr lang="en-US"/>
          </a:p>
        </p:txBody>
      </p:sp>
      <p:sp>
        <p:nvSpPr>
          <p:cNvPr id="18" name="Shape 18"/>
          <p:cNvSpPr/>
          <p:nvPr/>
        </p:nvSpPr>
        <p:spPr>
          <a:xfrm>
            <a:off x="6263640" y="3703320"/>
            <a:ext cx="5303520" cy="19202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9" name="Shape 19"/>
          <p:cNvSpPr/>
          <p:nvPr/>
        </p:nvSpPr>
        <p:spPr>
          <a:xfrm>
            <a:off x="6263640" y="3703320"/>
            <a:ext cx="64008" cy="192024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20" name="Shape 20"/>
          <p:cNvSpPr/>
          <p:nvPr/>
        </p:nvSpPr>
        <p:spPr>
          <a:xfrm>
            <a:off x="6446520" y="386791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Check the selected records</a:t>
            </a:r>
            <a:endParaRPr lang="en-US"/>
          </a:p>
        </p:txBody>
      </p:sp>
      <p:sp>
        <p:nvSpPr>
          <p:cNvPr id="21" name="Shape 21"/>
          <p:cNvSpPr/>
          <p:nvPr/>
        </p:nvSpPr>
        <p:spPr>
          <a:xfrm>
            <a:off x="6446520" y="4507992"/>
            <a:ext cx="4937760" cy="9692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Confirm sector, year, PAP, indicator and unit\nof measurement before entering values.</a:t>
            </a:r>
            <a:endParaRPr lang="en-US"/>
          </a:p>
        </p:txBody>
      </p:sp>
      <p:sp>
        <p:nvSpPr>
          <p:cNvPr id="22" name="Shape 22"/>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05 / 13</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Prepare records and enter performance data</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Administrator setup supports office reporting</a:t>
            </a:r>
            <a:endParaRPr lang="en-US"/>
          </a:p>
        </p:txBody>
      </p:sp>
      <p:sp>
        <p:nvSpPr>
          <p:cNvPr id="5" name="Shape 5"/>
          <p:cNvSpPr/>
          <p:nvPr/>
        </p:nvSpPr>
        <p:spPr>
          <a:xfrm>
            <a:off x="594360" y="1783080"/>
            <a:ext cx="5349240" cy="35661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6" name="Shape 6"/>
          <p:cNvSpPr/>
          <p:nvPr/>
        </p:nvSpPr>
        <p:spPr>
          <a:xfrm>
            <a:off x="594360" y="1783080"/>
            <a:ext cx="64008" cy="356616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777240" y="1947672"/>
            <a:ext cx="49834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Administrator preparation</a:t>
            </a:r>
            <a:endParaRPr lang="en-US"/>
          </a:p>
        </p:txBody>
      </p:sp>
      <p:sp>
        <p:nvSpPr>
          <p:cNvPr id="8" name="Shape 8"/>
          <p:cNvSpPr/>
          <p:nvPr/>
        </p:nvSpPr>
        <p:spPr>
          <a:xfrm>
            <a:off x="777240" y="2587752"/>
            <a:ext cx="4983480" cy="26151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Create or update accounts and office assignments.</a:t>
            </a:r>
            <a:endParaRPr lang="en-US"/>
          </a:p>
          <a:p>
            <a:pPr algn="l">
              <a:lnSpc>
                <a:spcPct val="110000"/>
              </a:lnSpc>
              <a:spcAft>
                <a:spcPts val="650"/>
              </a:spcAft>
            </a:pPr>
            <a:r>
              <a:rPr lang="en-US" sz="1900" b="0">
                <a:solidFill>
                  <a:srgbClr val="213547"/>
                </a:solidFill>
                <a:latin typeface="Aptos"/>
              </a:rPr>
              <a:t>Maintain PAP hierarchy and indicators.</a:t>
            </a:r>
            <a:endParaRPr lang="en-US"/>
          </a:p>
          <a:p>
            <a:pPr algn="l">
              <a:lnSpc>
                <a:spcPct val="110000"/>
              </a:lnSpc>
              <a:spcAft>
                <a:spcPts val="650"/>
              </a:spcAft>
            </a:pPr>
            <a:r>
              <a:rPr lang="en-US" sz="1900" b="0">
                <a:solidFill>
                  <a:srgbClr val="213547"/>
                </a:solidFill>
                <a:latin typeface="Aptos"/>
              </a:rPr>
              <a:t>Set indicator types and reporting year.</a:t>
            </a:r>
            <a:endParaRPr lang="en-US"/>
          </a:p>
          <a:p>
            <a:pPr algn="l">
              <a:lnSpc>
                <a:spcPct val="110000"/>
              </a:lnSpc>
              <a:spcAft>
                <a:spcPts val="650"/>
              </a:spcAft>
            </a:pPr>
            <a:r>
              <a:rPr lang="en-US" sz="1900" b="0">
                <a:solidFill>
                  <a:srgbClr val="213547"/>
                </a:solidFill>
                <a:latin typeface="Aptos"/>
              </a:rPr>
              <a:t>Preview and confirm supported Excel imports.</a:t>
            </a:r>
            <a:endParaRPr lang="en-US"/>
          </a:p>
        </p:txBody>
      </p:sp>
      <p:sp>
        <p:nvSpPr>
          <p:cNvPr id="9" name="Shape 9"/>
          <p:cNvSpPr/>
          <p:nvPr/>
        </p:nvSpPr>
        <p:spPr>
          <a:xfrm>
            <a:off x="6217920" y="1783080"/>
            <a:ext cx="5349240" cy="35661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0" name="Shape 10"/>
          <p:cNvSpPr/>
          <p:nvPr/>
        </p:nvSpPr>
        <p:spPr>
          <a:xfrm>
            <a:off x="6217920" y="1783080"/>
            <a:ext cx="64008" cy="356616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6400800" y="1947672"/>
            <a:ext cx="49834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Office data entry</a:t>
            </a:r>
            <a:endParaRPr lang="en-US"/>
          </a:p>
        </p:txBody>
      </p:sp>
      <p:sp>
        <p:nvSpPr>
          <p:cNvPr id="12" name="Shape 12"/>
          <p:cNvSpPr/>
          <p:nvPr/>
        </p:nvSpPr>
        <p:spPr>
          <a:xfrm>
            <a:off x="6400800" y="2587752"/>
            <a:ext cx="4983480" cy="26151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Locate the PAP, indicator and office row.</a:t>
            </a:r>
            <a:endParaRPr lang="en-US"/>
          </a:p>
          <a:p>
            <a:pPr algn="l">
              <a:lnSpc>
                <a:spcPct val="110000"/>
              </a:lnSpc>
              <a:spcAft>
                <a:spcPts val="650"/>
              </a:spcAft>
            </a:pPr>
            <a:r>
              <a:rPr lang="en-US" sz="1900" b="0">
                <a:solidFill>
                  <a:srgbClr val="213547"/>
                </a:solidFill>
                <a:latin typeface="Aptos"/>
              </a:rPr>
              <a:t>Show Physical or Financial columns and months.</a:t>
            </a:r>
            <a:endParaRPr lang="en-US"/>
          </a:p>
          <a:p>
            <a:pPr algn="l">
              <a:lnSpc>
                <a:spcPct val="110000"/>
              </a:lnSpc>
              <a:spcAft>
                <a:spcPts val="650"/>
              </a:spcAft>
            </a:pPr>
            <a:r>
              <a:rPr lang="en-US" sz="1900" b="0">
                <a:solidFill>
                  <a:srgbClr val="213547"/>
                </a:solidFill>
                <a:latin typeface="Aptos"/>
              </a:rPr>
              <a:t>Enter authorized monthly values and remarks.</a:t>
            </a:r>
            <a:endParaRPr lang="en-US"/>
          </a:p>
          <a:p>
            <a:pPr algn="l">
              <a:lnSpc>
                <a:spcPct val="110000"/>
              </a:lnSpc>
              <a:spcAft>
                <a:spcPts val="650"/>
              </a:spcAft>
            </a:pPr>
            <a:r>
              <a:rPr lang="en-US" sz="1900" b="0">
                <a:solidFill>
                  <a:srgbClr val="213547"/>
                </a:solidFill>
                <a:latin typeface="Aptos"/>
              </a:rPr>
              <a:t>Check calculated totals, then select Save.</a:t>
            </a:r>
            <a:endParaRPr lang="en-US"/>
          </a:p>
        </p:txBody>
      </p:sp>
      <p:sp>
        <p:nvSpPr>
          <p:cNvPr id="13" name="Shape 13"/>
          <p:cNvSpPr/>
          <p:nvPr/>
        </p:nvSpPr>
        <p:spPr>
          <a:xfrm>
            <a:off x="685800" y="5623560"/>
            <a:ext cx="10789920" cy="4114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800" b="0">
                <a:solidFill>
                  <a:srgbClr val="64748B"/>
                </a:solidFill>
                <a:latin typeface="Aptos"/>
              </a:rPr>
              <a:t>Showing a column does not grant permission to edit it.</a:t>
            </a:r>
            <a:endParaRPr lang="en-US"/>
          </a:p>
        </p:txBody>
      </p:sp>
      <p:sp>
        <p:nvSpPr>
          <p:cNvPr id="14" name="Shape 14"/>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06 / 13</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How physical totals are calculated</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Quarterly and annual rules depend on the indicator type</a:t>
            </a:r>
            <a:endParaRPr lang="en-US"/>
          </a:p>
        </p:txBody>
      </p:sp>
      <p:sp>
        <p:nvSpPr>
          <p:cNvPr id="5" name="Shape 5"/>
          <p:cNvSpPr/>
          <p:nvPr/>
        </p:nvSpPr>
        <p:spPr>
          <a:xfrm>
            <a:off x="594360" y="1737360"/>
            <a:ext cx="3520440" cy="31089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6" name="Shape 6"/>
          <p:cNvSpPr/>
          <p:nvPr/>
        </p:nvSpPr>
        <p:spPr>
          <a:xfrm>
            <a:off x="594360" y="1737360"/>
            <a:ext cx="64008" cy="310896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777240" y="190195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Cumulative</a:t>
            </a:r>
            <a:endParaRPr lang="en-US"/>
          </a:p>
        </p:txBody>
      </p:sp>
      <p:sp>
        <p:nvSpPr>
          <p:cNvPr id="8" name="Shape 8"/>
          <p:cNvSpPr/>
          <p:nvPr/>
        </p:nvSpPr>
        <p:spPr>
          <a:xfrm>
            <a:off x="777240" y="2542032"/>
            <a:ext cx="3154680" cy="21579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Quarter: sum of 3 months</a:t>
            </a:r>
            <a:endParaRPr lang="en-US"/>
          </a:p>
          <a:p>
            <a:pPr algn="l">
              <a:lnSpc>
                <a:spcPct val="110000"/>
              </a:lnSpc>
              <a:spcAft>
                <a:spcPts val="650"/>
              </a:spcAft>
            </a:pPr>
            <a:r>
              <a:rPr lang="en-US" sz="1900" b="0">
                <a:solidFill>
                  <a:srgbClr val="213547"/>
                </a:solidFill>
                <a:latin typeface="Aptos"/>
              </a:rPr>
              <a:t>Annual: sum of 4 quarters</a:t>
            </a:r>
            <a:endParaRPr lang="en-US"/>
          </a:p>
          <a:p>
            <a:pPr algn="l">
              <a:lnSpc>
                <a:spcPct val="110000"/>
              </a:lnSpc>
              <a:spcAft>
                <a:spcPts val="650"/>
              </a:spcAft>
            </a:pPr>
            <a:r>
              <a:rPr lang="en-US" sz="1900" b="0">
                <a:solidFill>
                  <a:srgbClr val="213547"/>
                </a:solidFill>
                <a:latin typeface="Aptos"/>
              </a:rPr>
              <a:t/>
            </a:r>
            <a:endParaRPr lang="en-US"/>
          </a:p>
          <a:p>
            <a:pPr algn="l">
              <a:lnSpc>
                <a:spcPct val="110000"/>
              </a:lnSpc>
              <a:spcAft>
                <a:spcPts val="650"/>
              </a:spcAft>
            </a:pPr>
            <a:r>
              <a:rPr lang="en-US" sz="1900" b="0">
                <a:solidFill>
                  <a:srgbClr val="213547"/>
                </a:solidFill>
                <a:latin typeface="Aptos"/>
              </a:rPr>
              <a:t>Example quarter:</a:t>
            </a:r>
            <a:endParaRPr lang="en-US"/>
          </a:p>
          <a:p>
            <a:pPr algn="l">
              <a:lnSpc>
                <a:spcPct val="110000"/>
              </a:lnSpc>
              <a:spcAft>
                <a:spcPts val="650"/>
              </a:spcAft>
            </a:pPr>
            <a:r>
              <a:rPr lang="en-US" sz="1900" b="0">
                <a:solidFill>
                  <a:srgbClr val="213547"/>
                </a:solidFill>
                <a:latin typeface="Aptos"/>
              </a:rPr>
              <a:t>2 + 3 + 4 = 9</a:t>
            </a:r>
            <a:endParaRPr lang="en-US"/>
          </a:p>
        </p:txBody>
      </p:sp>
      <p:sp>
        <p:nvSpPr>
          <p:cNvPr id="9" name="Shape 9"/>
          <p:cNvSpPr/>
          <p:nvPr/>
        </p:nvSpPr>
        <p:spPr>
          <a:xfrm>
            <a:off x="4343400" y="1737360"/>
            <a:ext cx="3520440" cy="31089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0" name="Shape 10"/>
          <p:cNvSpPr/>
          <p:nvPr/>
        </p:nvSpPr>
        <p:spPr>
          <a:xfrm>
            <a:off x="4343400" y="1737360"/>
            <a:ext cx="64008" cy="310896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4526280" y="190195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Non-cumulative</a:t>
            </a:r>
            <a:endParaRPr lang="en-US"/>
          </a:p>
        </p:txBody>
      </p:sp>
      <p:sp>
        <p:nvSpPr>
          <p:cNvPr id="12" name="Shape 12"/>
          <p:cNvSpPr/>
          <p:nvPr/>
        </p:nvSpPr>
        <p:spPr>
          <a:xfrm>
            <a:off x="4526280" y="2542032"/>
            <a:ext cx="3154680" cy="21579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Quarter: most frequent month</a:t>
            </a:r>
            <a:endParaRPr lang="en-US"/>
          </a:p>
          <a:p>
            <a:pPr algn="l">
              <a:lnSpc>
                <a:spcPct val="110000"/>
              </a:lnSpc>
              <a:spcAft>
                <a:spcPts val="650"/>
              </a:spcAft>
            </a:pPr>
            <a:r>
              <a:rPr lang="en-US" sz="1900" b="0">
                <a:solidFill>
                  <a:srgbClr val="213547"/>
                </a:solidFill>
                <a:latin typeface="Aptos"/>
              </a:rPr>
              <a:t>Annual: most frequent quarter</a:t>
            </a:r>
            <a:endParaRPr lang="en-US"/>
          </a:p>
          <a:p>
            <a:pPr algn="l">
              <a:lnSpc>
                <a:spcPct val="110000"/>
              </a:lnSpc>
              <a:spcAft>
                <a:spcPts val="650"/>
              </a:spcAft>
            </a:pPr>
            <a:r>
              <a:rPr lang="en-US" sz="1900" b="0">
                <a:solidFill>
                  <a:srgbClr val="213547"/>
                </a:solidFill>
                <a:latin typeface="Aptos"/>
              </a:rPr>
              <a:t/>
            </a:r>
            <a:endParaRPr lang="en-US"/>
          </a:p>
          <a:p>
            <a:pPr algn="l">
              <a:lnSpc>
                <a:spcPct val="110000"/>
              </a:lnSpc>
              <a:spcAft>
                <a:spcPts val="650"/>
              </a:spcAft>
            </a:pPr>
            <a:r>
              <a:rPr lang="en-US" sz="1900" b="0">
                <a:solidFill>
                  <a:srgbClr val="213547"/>
                </a:solidFill>
                <a:latin typeface="Aptos"/>
              </a:rPr>
              <a:t>Example quarter:</a:t>
            </a:r>
            <a:endParaRPr lang="en-US"/>
          </a:p>
          <a:p>
            <a:pPr algn="l">
              <a:lnSpc>
                <a:spcPct val="110000"/>
              </a:lnSpc>
              <a:spcAft>
                <a:spcPts val="650"/>
              </a:spcAft>
            </a:pPr>
            <a:r>
              <a:rPr lang="en-US" sz="1900" b="0">
                <a:solidFill>
                  <a:srgbClr val="213547"/>
                </a:solidFill>
                <a:latin typeface="Aptos"/>
              </a:rPr>
              <a:t>11, 11, 69 → 11</a:t>
            </a:r>
            <a:endParaRPr lang="en-US"/>
          </a:p>
        </p:txBody>
      </p:sp>
      <p:sp>
        <p:nvSpPr>
          <p:cNvPr id="13" name="Shape 13"/>
          <p:cNvSpPr/>
          <p:nvPr/>
        </p:nvSpPr>
        <p:spPr>
          <a:xfrm>
            <a:off x="8092440" y="1737360"/>
            <a:ext cx="3520440" cy="310896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4" name="Shape 14"/>
          <p:cNvSpPr/>
          <p:nvPr/>
        </p:nvSpPr>
        <p:spPr>
          <a:xfrm>
            <a:off x="8092440" y="1737360"/>
            <a:ext cx="64008" cy="3108960"/>
          </a:xfrm>
          <a:prstGeom prst="rect">
            <a:avLst/>
          </a:prstGeom>
          <a:solidFill>
            <a:srgbClr val="17365D"/>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8275320" y="190195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7365D"/>
                </a:solidFill>
                <a:latin typeface="Aptos"/>
              </a:rPr>
              <a:t>Semi-cumulative</a:t>
            </a:r>
            <a:endParaRPr lang="en-US"/>
          </a:p>
        </p:txBody>
      </p:sp>
      <p:sp>
        <p:nvSpPr>
          <p:cNvPr id="16" name="Shape 16"/>
          <p:cNvSpPr/>
          <p:nvPr/>
        </p:nvSpPr>
        <p:spPr>
          <a:xfrm>
            <a:off x="8275320" y="2542032"/>
            <a:ext cx="3154680" cy="215798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Quarter: sum of 3 months</a:t>
            </a:r>
            <a:endParaRPr lang="en-US"/>
          </a:p>
          <a:p>
            <a:pPr algn="l">
              <a:lnSpc>
                <a:spcPct val="110000"/>
              </a:lnSpc>
              <a:spcAft>
                <a:spcPts val="650"/>
              </a:spcAft>
            </a:pPr>
            <a:r>
              <a:rPr lang="en-US" sz="1900" b="0">
                <a:solidFill>
                  <a:srgbClr val="213547"/>
                </a:solidFill>
                <a:latin typeface="Aptos"/>
              </a:rPr>
              <a:t>Annual: highest quarter</a:t>
            </a:r>
            <a:endParaRPr lang="en-US"/>
          </a:p>
          <a:p>
            <a:pPr algn="l">
              <a:lnSpc>
                <a:spcPct val="110000"/>
              </a:lnSpc>
              <a:spcAft>
                <a:spcPts val="650"/>
              </a:spcAft>
            </a:pPr>
            <a:r>
              <a:rPr lang="en-US" sz="1900" b="0">
                <a:solidFill>
                  <a:srgbClr val="213547"/>
                </a:solidFill>
                <a:latin typeface="Aptos"/>
              </a:rPr>
              <a:t/>
            </a:r>
            <a:endParaRPr lang="en-US"/>
          </a:p>
          <a:p>
            <a:pPr algn="l">
              <a:lnSpc>
                <a:spcPct val="110000"/>
              </a:lnSpc>
              <a:spcAft>
                <a:spcPts val="650"/>
              </a:spcAft>
            </a:pPr>
            <a:r>
              <a:rPr lang="en-US" sz="1900" b="0">
                <a:solidFill>
                  <a:srgbClr val="213547"/>
                </a:solidFill>
                <a:latin typeface="Aptos"/>
              </a:rPr>
              <a:t>Example annual:</a:t>
            </a:r>
            <a:endParaRPr lang="en-US"/>
          </a:p>
          <a:p>
            <a:pPr algn="l">
              <a:lnSpc>
                <a:spcPct val="110000"/>
              </a:lnSpc>
              <a:spcAft>
                <a:spcPts val="650"/>
              </a:spcAft>
            </a:pPr>
            <a:r>
              <a:rPr lang="en-US" sz="1900" b="0">
                <a:solidFill>
                  <a:srgbClr val="213547"/>
                </a:solidFill>
                <a:latin typeface="Aptos"/>
              </a:rPr>
              <a:t>9, 12, 6, 8 → 12</a:t>
            </a:r>
            <a:endParaRPr lang="en-US"/>
          </a:p>
        </p:txBody>
      </p:sp>
      <p:sp>
        <p:nvSpPr>
          <p:cNvPr id="17" name="Shape 17"/>
          <p:cNvSpPr/>
          <p:nvPr/>
        </p:nvSpPr>
        <p:spPr>
          <a:xfrm>
            <a:off x="685800" y="5166360"/>
            <a:ext cx="10835640" cy="731520"/>
          </a:xfrm>
          <a:prstGeom prst="roundRect">
            <a:avLst/>
          </a:prstGeom>
          <a:solidFill>
            <a:srgbClr val="E1F3F0"/>
          </a:solidFill>
          <a:ln>
            <a:noFill/>
          </a:ln>
        </p:spPr>
        <p:txBody>
          <a:bodyPr wrap="square" lIns="109728" rIns="109728" tIns="91440" bIns="54864" anchor="t">
            <a:normAutofit/>
          </a:bodyPr>
          <a:lstStyle/>
          <a:p>
            <a:pPr algn="l">
              <a:lnSpc>
                <a:spcPct val="110000"/>
              </a:lnSpc>
              <a:spcAft>
                <a:spcPts val="650"/>
              </a:spcAft>
            </a:pPr>
            <a:r>
              <a:rPr lang="en-US" sz="1800" b="0">
                <a:solidFill>
                  <a:srgbClr val="213547"/>
                </a:solidFill>
                <a:latin typeface="Aptos"/>
              </a:rPr>
              <a:t>Financial totals use sums. An unusual monthly value stays in its month even when the repeated value determines the quarter.</a:t>
            </a:r>
            <a:endParaRPr lang="en-US"/>
          </a:p>
        </p:txBody>
      </p:sp>
      <p:sp>
        <p:nvSpPr>
          <p:cNvPr id="18" name="Shape 18"/>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07 / 13</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Saving: direct update or correction request?</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Office-user changes to locked accomplishments follow a review path</a:t>
            </a:r>
            <a:endParaRPr lang="en-US"/>
          </a:p>
        </p:txBody>
      </p:sp>
      <p:sp>
        <p:nvSpPr>
          <p:cNvPr id="5" name="Shape 5"/>
          <p:cNvSpPr/>
          <p:nvPr/>
        </p:nvSpPr>
        <p:spPr>
          <a:xfrm>
            <a:off x="594360" y="1828800"/>
            <a:ext cx="2286000" cy="960120"/>
          </a:xfrm>
          <a:prstGeom prst="roundRect">
            <a:avLst/>
          </a:prstGeom>
          <a:solidFill>
            <a:srgbClr val="2146B5"/>
          </a:solidFill>
          <a:ln>
            <a:noFill/>
          </a:ln>
        </p:spPr>
        <p:txBody>
          <a:bodyPr wrap="square" lIns="109728" rIns="109728" tIns="91440" bIns="54864" anchor="ctr">
            <a:normAutofit/>
          </a:bodyPr>
          <a:lstStyle/>
          <a:p>
            <a:pPr algn="ctr">
              <a:lnSpc>
                <a:spcPct val="110000"/>
              </a:lnSpc>
              <a:spcAft>
                <a:spcPts val="650"/>
              </a:spcAft>
            </a:pPr>
            <a:r>
              <a:rPr lang="en-US" sz="2200" b="1">
                <a:solidFill>
                  <a:srgbClr val="FFFFFF"/>
                </a:solidFill>
                <a:latin typeface="Aptos"/>
              </a:rPr>
              <a:t>Click Save</a:t>
            </a:r>
            <a:endParaRPr lang="en-US"/>
          </a:p>
        </p:txBody>
      </p:sp>
      <p:sp>
        <p:nvSpPr>
          <p:cNvPr id="6" name="Shape 6"/>
          <p:cNvSpPr/>
          <p:nvPr/>
        </p:nvSpPr>
        <p:spPr>
          <a:xfrm>
            <a:off x="2944368" y="2194560"/>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3383280" y="1828800"/>
            <a:ext cx="2926080" cy="96012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Validate values\nand office permission</a:t>
            </a:r>
            <a:endParaRPr lang="en-US"/>
          </a:p>
        </p:txBody>
      </p:sp>
      <p:sp>
        <p:nvSpPr>
          <p:cNvPr id="8" name="Shape 8"/>
          <p:cNvSpPr/>
          <p:nvPr/>
        </p:nvSpPr>
        <p:spPr>
          <a:xfrm>
            <a:off x="6419088" y="2194560"/>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9" name="Shape 9"/>
          <p:cNvSpPr/>
          <p:nvPr/>
        </p:nvSpPr>
        <p:spPr>
          <a:xfrm>
            <a:off x="6949440" y="1737360"/>
            <a:ext cx="4480560" cy="1143000"/>
          </a:xfrm>
          <a:prstGeom prst="round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2100" b="1">
                <a:solidFill>
                  <a:srgbClr val="FFFFFF"/>
                </a:solidFill>
                <a:latin typeface="Aptos"/>
              </a:rPr>
              <a:t>Locked accomplishment change\nby an office user?</a:t>
            </a:r>
            <a:endParaRPr lang="en-US"/>
          </a:p>
        </p:txBody>
      </p:sp>
      <p:sp>
        <p:nvSpPr>
          <p:cNvPr id="10" name="Shape 10"/>
          <p:cNvSpPr/>
          <p:nvPr/>
        </p:nvSpPr>
        <p:spPr>
          <a:xfrm>
            <a:off x="594360" y="3566160"/>
            <a:ext cx="3474720" cy="21488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594360" y="3566160"/>
            <a:ext cx="64008" cy="2148840"/>
          </a:xfrm>
          <a:prstGeom prst="rect">
            <a:avLst/>
          </a:prstGeom>
          <a:solidFill>
            <a:srgbClr val="D84343"/>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2" name="Shape 12"/>
          <p:cNvSpPr/>
          <p:nvPr/>
        </p:nvSpPr>
        <p:spPr>
          <a:xfrm>
            <a:off x="777240" y="3730752"/>
            <a:ext cx="31089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D84343"/>
                </a:solidFill>
                <a:latin typeface="Aptos"/>
              </a:rPr>
              <a:t>Invalid or unauthorized</a:t>
            </a:r>
            <a:endParaRPr lang="en-US"/>
          </a:p>
        </p:txBody>
      </p:sp>
      <p:sp>
        <p:nvSpPr>
          <p:cNvPr id="13" name="Shape 13"/>
          <p:cNvSpPr/>
          <p:nvPr/>
        </p:nvSpPr>
        <p:spPr>
          <a:xfrm>
            <a:off x="777240" y="4370832"/>
            <a:ext cx="3108960" cy="11978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Show the error.</a:t>
            </a:r>
            <a:endParaRPr lang="en-US"/>
          </a:p>
          <a:p>
            <a:pPr algn="l">
              <a:lnSpc>
                <a:spcPct val="110000"/>
              </a:lnSpc>
              <a:spcAft>
                <a:spcPts val="650"/>
              </a:spcAft>
            </a:pPr>
            <a:r>
              <a:rPr lang="en-US" sz="1900" b="0">
                <a:solidFill>
                  <a:srgbClr val="213547"/>
                </a:solidFill>
                <a:latin typeface="Aptos"/>
              </a:rPr>
              <a:t>Correct entries and retry.</a:t>
            </a:r>
            <a:endParaRPr lang="en-US"/>
          </a:p>
        </p:txBody>
      </p:sp>
      <p:sp>
        <p:nvSpPr>
          <p:cNvPr id="14" name="Shape 14"/>
          <p:cNvSpPr/>
          <p:nvPr/>
        </p:nvSpPr>
        <p:spPr>
          <a:xfrm>
            <a:off x="4297680" y="3566160"/>
            <a:ext cx="3474720" cy="21488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4297680" y="3566160"/>
            <a:ext cx="64008" cy="214884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6" name="Shape 16"/>
          <p:cNvSpPr/>
          <p:nvPr/>
        </p:nvSpPr>
        <p:spPr>
          <a:xfrm>
            <a:off x="4480560" y="3730752"/>
            <a:ext cx="31089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No → save directly</a:t>
            </a:r>
            <a:endParaRPr lang="en-US"/>
          </a:p>
        </p:txBody>
      </p:sp>
      <p:sp>
        <p:nvSpPr>
          <p:cNvPr id="17" name="Shape 17"/>
          <p:cNvSpPr/>
          <p:nvPr/>
        </p:nvSpPr>
        <p:spPr>
          <a:xfrm>
            <a:off x="4480560" y="4370832"/>
            <a:ext cx="3108960" cy="11978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Write confirmed values.</a:t>
            </a:r>
            <a:endParaRPr lang="en-US"/>
          </a:p>
          <a:p>
            <a:pPr algn="l">
              <a:lnSpc>
                <a:spcPct val="110000"/>
              </a:lnSpc>
              <a:spcAft>
                <a:spcPts val="650"/>
              </a:spcAft>
            </a:pPr>
            <a:r>
              <a:rPr lang="en-US" sz="1900" b="0">
                <a:solidFill>
                  <a:srgbClr val="213547"/>
                </a:solidFill>
                <a:latin typeface="Aptos"/>
              </a:rPr>
              <a:t>Show the save result.</a:t>
            </a:r>
            <a:endParaRPr lang="en-US"/>
          </a:p>
        </p:txBody>
      </p:sp>
      <p:sp>
        <p:nvSpPr>
          <p:cNvPr id="18" name="Shape 18"/>
          <p:cNvSpPr/>
          <p:nvPr/>
        </p:nvSpPr>
        <p:spPr>
          <a:xfrm>
            <a:off x="8001000" y="3566160"/>
            <a:ext cx="3474720" cy="214884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9" name="Shape 19"/>
          <p:cNvSpPr/>
          <p:nvPr/>
        </p:nvSpPr>
        <p:spPr>
          <a:xfrm>
            <a:off x="8001000" y="3566160"/>
            <a:ext cx="64008" cy="214884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20" name="Shape 20"/>
          <p:cNvSpPr/>
          <p:nvPr/>
        </p:nvSpPr>
        <p:spPr>
          <a:xfrm>
            <a:off x="8183880" y="3730752"/>
            <a:ext cx="31089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Yes → request review</a:t>
            </a:r>
            <a:endParaRPr lang="en-US"/>
          </a:p>
        </p:txBody>
      </p:sp>
      <p:sp>
        <p:nvSpPr>
          <p:cNvPr id="21" name="Shape 21"/>
          <p:cNvSpPr/>
          <p:nvPr/>
        </p:nvSpPr>
        <p:spPr>
          <a:xfrm>
            <a:off x="8183880" y="4370832"/>
            <a:ext cx="3108960" cy="119786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Enter a correction reason.</a:t>
            </a:r>
            <a:endParaRPr lang="en-US"/>
          </a:p>
          <a:p>
            <a:pPr algn="l">
              <a:lnSpc>
                <a:spcPct val="110000"/>
              </a:lnSpc>
              <a:spcAft>
                <a:spcPts val="650"/>
              </a:spcAft>
            </a:pPr>
            <a:r>
              <a:rPr lang="en-US" sz="1900" b="0">
                <a:solidFill>
                  <a:srgbClr val="213547"/>
                </a:solidFill>
                <a:latin typeface="Aptos"/>
              </a:rPr>
              <a:t>Submit a pending request.</a:t>
            </a:r>
            <a:endParaRPr lang="en-US"/>
          </a:p>
        </p:txBody>
      </p:sp>
      <p:sp>
        <p:nvSpPr>
          <p:cNvPr id="22" name="Shape 22"/>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08 / 13</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Locked correction: review and decision</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The existing confirmed value stays in place while review is pending</a:t>
            </a:r>
            <a:endParaRPr lang="en-US"/>
          </a:p>
        </p:txBody>
      </p:sp>
      <p:sp>
        <p:nvSpPr>
          <p:cNvPr id="5" name="Shape 5"/>
          <p:cNvSpPr/>
          <p:nvPr/>
        </p:nvSpPr>
        <p:spPr>
          <a:xfrm>
            <a:off x="640080" y="1783080"/>
            <a:ext cx="3200400" cy="914400"/>
          </a:xfrm>
          <a:prstGeom prst="roundRect">
            <a:avLst/>
          </a:prstGeom>
          <a:solidFill>
            <a:srgbClr val="2146B5"/>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Office submits correction\nwith a reason</a:t>
            </a:r>
            <a:endParaRPr lang="en-US"/>
          </a:p>
        </p:txBody>
      </p:sp>
      <p:sp>
        <p:nvSpPr>
          <p:cNvPr id="6" name="Shape 6"/>
          <p:cNvSpPr/>
          <p:nvPr/>
        </p:nvSpPr>
        <p:spPr>
          <a:xfrm>
            <a:off x="3977640" y="2121408"/>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4526280" y="1783080"/>
            <a:ext cx="3017520" cy="914400"/>
          </a:xfrm>
          <a:prstGeom prst="roundRect">
            <a:avLst/>
          </a:prstGeom>
          <a:solidFill>
            <a:srgbClr val="FFF1CE"/>
          </a:solidFill>
          <a:ln>
            <a:noFill/>
          </a:ln>
        </p:spPr>
        <p:txBody>
          <a:bodyPr wrap="square" lIns="109728" rIns="109728" tIns="91440" bIns="54864" anchor="ctr">
            <a:normAutofit/>
          </a:bodyPr>
          <a:lstStyle/>
          <a:p>
            <a:pPr algn="ctr">
              <a:lnSpc>
                <a:spcPct val="110000"/>
              </a:lnSpc>
              <a:spcAft>
                <a:spcPts val="650"/>
              </a:spcAft>
            </a:pPr>
            <a:r>
              <a:rPr lang="en-US" sz="2100" b="1">
                <a:solidFill>
                  <a:srgbClr val="213547"/>
                </a:solidFill>
                <a:latin typeface="Aptos"/>
              </a:rPr>
              <a:t>Pending request</a:t>
            </a:r>
            <a:endParaRPr lang="en-US"/>
          </a:p>
        </p:txBody>
      </p:sp>
      <p:sp>
        <p:nvSpPr>
          <p:cNvPr id="8" name="Shape 8"/>
          <p:cNvSpPr/>
          <p:nvPr/>
        </p:nvSpPr>
        <p:spPr>
          <a:xfrm>
            <a:off x="7680960" y="2121408"/>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9" name="Shape 9"/>
          <p:cNvSpPr/>
          <p:nvPr/>
        </p:nvSpPr>
        <p:spPr>
          <a:xfrm>
            <a:off x="8183880" y="1783080"/>
            <a:ext cx="3291840" cy="914400"/>
          </a:xfrm>
          <a:prstGeom prst="round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1900" b="1">
                <a:solidFill>
                  <a:srgbClr val="FFFFFF"/>
                </a:solidFill>
                <a:latin typeface="Aptos"/>
              </a:rPr>
              <a:t>Administrator / RO\nreviews supporting records</a:t>
            </a:r>
            <a:endParaRPr lang="en-US"/>
          </a:p>
        </p:txBody>
      </p:sp>
      <p:sp>
        <p:nvSpPr>
          <p:cNvPr id="10" name="Shape 10"/>
          <p:cNvSpPr/>
          <p:nvPr/>
        </p:nvSpPr>
        <p:spPr>
          <a:xfrm>
            <a:off x="640080" y="3337560"/>
            <a:ext cx="5303520" cy="228600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640080" y="3337560"/>
            <a:ext cx="64008" cy="228600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2" name="Shape 12"/>
          <p:cNvSpPr/>
          <p:nvPr/>
        </p:nvSpPr>
        <p:spPr>
          <a:xfrm>
            <a:off x="822960" y="350215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Approved</a:t>
            </a:r>
            <a:endParaRPr lang="en-US"/>
          </a:p>
        </p:txBody>
      </p:sp>
      <p:sp>
        <p:nvSpPr>
          <p:cNvPr id="13" name="Shape 13"/>
          <p:cNvSpPr/>
          <p:nvPr/>
        </p:nvSpPr>
        <p:spPr>
          <a:xfrm>
            <a:off x="822960" y="4142232"/>
            <a:ext cx="4937760" cy="133502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Apply the corrected accomplishment.</a:t>
            </a:r>
            <a:endParaRPr lang="en-US"/>
          </a:p>
          <a:p>
            <a:pPr algn="l">
              <a:lnSpc>
                <a:spcPct val="110000"/>
              </a:lnSpc>
              <a:spcAft>
                <a:spcPts val="650"/>
              </a:spcAft>
            </a:pPr>
            <a:r>
              <a:rPr lang="en-US" sz="1900" b="0">
                <a:solidFill>
                  <a:srgbClr val="213547"/>
                </a:solidFill>
                <a:latin typeface="Aptos"/>
              </a:rPr>
              <a:t>Recalculate quarterly and annual totals.</a:t>
            </a:r>
            <a:endParaRPr lang="en-US"/>
          </a:p>
          <a:p>
            <a:pPr algn="l">
              <a:lnSpc>
                <a:spcPct val="110000"/>
              </a:lnSpc>
              <a:spcAft>
                <a:spcPts val="650"/>
              </a:spcAft>
            </a:pPr>
            <a:r>
              <a:rPr lang="en-US" sz="1900" b="0">
                <a:solidFill>
                  <a:srgbClr val="213547"/>
                </a:solidFill>
                <a:latin typeface="Aptos"/>
              </a:rPr>
              <a:t>User checks the updated record.</a:t>
            </a:r>
            <a:endParaRPr lang="en-US"/>
          </a:p>
        </p:txBody>
      </p:sp>
      <p:sp>
        <p:nvSpPr>
          <p:cNvPr id="14" name="Shape 14"/>
          <p:cNvSpPr/>
          <p:nvPr/>
        </p:nvSpPr>
        <p:spPr>
          <a:xfrm>
            <a:off x="6263640" y="3337560"/>
            <a:ext cx="5303520" cy="228600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6263640" y="3337560"/>
            <a:ext cx="64008" cy="2286000"/>
          </a:xfrm>
          <a:prstGeom prst="rect">
            <a:avLst/>
          </a:prstGeom>
          <a:solidFill>
            <a:srgbClr val="D84343"/>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6" name="Shape 16"/>
          <p:cNvSpPr/>
          <p:nvPr/>
        </p:nvSpPr>
        <p:spPr>
          <a:xfrm>
            <a:off x="6446520" y="350215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D84343"/>
                </a:solidFill>
                <a:latin typeface="Aptos"/>
              </a:rPr>
              <a:t>Declined</a:t>
            </a:r>
            <a:endParaRPr lang="en-US"/>
          </a:p>
        </p:txBody>
      </p:sp>
      <p:sp>
        <p:nvSpPr>
          <p:cNvPr id="17" name="Shape 17"/>
          <p:cNvSpPr/>
          <p:nvPr/>
        </p:nvSpPr>
        <p:spPr>
          <a:xfrm>
            <a:off x="6446520" y="4142232"/>
            <a:ext cx="4937760" cy="133502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Keep the existing confirmed value.</a:t>
            </a:r>
            <a:endParaRPr lang="en-US"/>
          </a:p>
          <a:p>
            <a:pPr algn="l">
              <a:lnSpc>
                <a:spcPct val="110000"/>
              </a:lnSpc>
              <a:spcAft>
                <a:spcPts val="650"/>
              </a:spcAft>
            </a:pPr>
            <a:r>
              <a:rPr lang="en-US" sz="1900" b="0">
                <a:solidFill>
                  <a:srgbClr val="213547"/>
                </a:solidFill>
                <a:latin typeface="Aptos"/>
              </a:rPr>
              <a:t>Record the reviewer’s explanation.</a:t>
            </a:r>
            <a:endParaRPr lang="en-US"/>
          </a:p>
          <a:p>
            <a:pPr algn="l">
              <a:lnSpc>
                <a:spcPct val="110000"/>
              </a:lnSpc>
              <a:spcAft>
                <a:spcPts val="650"/>
              </a:spcAft>
            </a:pPr>
            <a:r>
              <a:rPr lang="en-US" sz="1900" b="0">
                <a:solidFill>
                  <a:srgbClr val="213547"/>
                </a:solidFill>
                <a:latin typeface="Aptos"/>
              </a:rPr>
              <a:t>User reviews notes before revising.</a:t>
            </a:r>
            <a:endParaRPr lang="en-US"/>
          </a:p>
        </p:txBody>
      </p:sp>
      <p:sp>
        <p:nvSpPr>
          <p:cNvPr id="18" name="Shape 18"/>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09 / 13</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Reload, notifications and change history</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Verify that the intended result is confirmed</a:t>
            </a:r>
            <a:endParaRPr lang="en-US"/>
          </a:p>
        </p:txBody>
      </p:sp>
      <p:sp>
        <p:nvSpPr>
          <p:cNvPr id="5" name="Shape 5"/>
          <p:cNvSpPr/>
          <p:nvPr/>
        </p:nvSpPr>
        <p:spPr>
          <a:xfrm>
            <a:off x="594360" y="1828800"/>
            <a:ext cx="3520440" cy="347472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6" name="Shape 6"/>
          <p:cNvSpPr/>
          <p:nvPr/>
        </p:nvSpPr>
        <p:spPr>
          <a:xfrm>
            <a:off x="594360" y="1828800"/>
            <a:ext cx="64008" cy="347472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777240" y="199339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Reload verification</a:t>
            </a:r>
            <a:endParaRPr lang="en-US"/>
          </a:p>
        </p:txBody>
      </p:sp>
      <p:sp>
        <p:nvSpPr>
          <p:cNvPr id="8" name="Shape 8"/>
          <p:cNvSpPr/>
          <p:nvPr/>
        </p:nvSpPr>
        <p:spPr>
          <a:xfrm>
            <a:off x="777240" y="2633472"/>
            <a:ext cx="3154680" cy="252374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Confirm the save result.</a:t>
            </a:r>
            <a:endParaRPr lang="en-US"/>
          </a:p>
          <a:p>
            <a:pPr algn="l">
              <a:lnSpc>
                <a:spcPct val="110000"/>
              </a:lnSpc>
              <a:spcAft>
                <a:spcPts val="650"/>
              </a:spcAft>
            </a:pPr>
            <a:r>
              <a:rPr lang="en-US" sz="1900" b="0">
                <a:solidFill>
                  <a:srgbClr val="213547"/>
                </a:solidFill>
                <a:latin typeface="Aptos"/>
              </a:rPr>
              <a:t>Reload the same sector and year.</a:t>
            </a:r>
            <a:endParaRPr lang="en-US"/>
          </a:p>
          <a:p>
            <a:pPr algn="l">
              <a:lnSpc>
                <a:spcPct val="110000"/>
              </a:lnSpc>
              <a:spcAft>
                <a:spcPts val="650"/>
              </a:spcAft>
            </a:pPr>
            <a:r>
              <a:rPr lang="en-US" sz="1900" b="0">
                <a:solidFill>
                  <a:srgbClr val="213547"/>
                </a:solidFill>
                <a:latin typeface="Aptos"/>
              </a:rPr>
              <a:t>Check the edited month.</a:t>
            </a:r>
            <a:endParaRPr lang="en-US"/>
          </a:p>
          <a:p>
            <a:pPr algn="l">
              <a:lnSpc>
                <a:spcPct val="110000"/>
              </a:lnSpc>
              <a:spcAft>
                <a:spcPts val="650"/>
              </a:spcAft>
            </a:pPr>
            <a:r>
              <a:rPr lang="en-US" sz="1900" b="0">
                <a:solidFill>
                  <a:srgbClr val="213547"/>
                </a:solidFill>
                <a:latin typeface="Aptos"/>
              </a:rPr>
              <a:t>Compare quarter, annual and</a:t>
            </a:r>
            <a:endParaRPr lang="en-US"/>
          </a:p>
          <a:p>
            <a:pPr algn="l">
              <a:lnSpc>
                <a:spcPct val="110000"/>
              </a:lnSpc>
              <a:spcAft>
                <a:spcPts val="650"/>
              </a:spcAft>
            </a:pPr>
            <a:r>
              <a:rPr lang="en-US" sz="1900" b="0">
                <a:solidFill>
                  <a:srgbClr val="213547"/>
                </a:solidFill>
                <a:latin typeface="Aptos"/>
              </a:rPr>
              <a:t>province / CAR totals.</a:t>
            </a:r>
            <a:endParaRPr lang="en-US"/>
          </a:p>
        </p:txBody>
      </p:sp>
      <p:sp>
        <p:nvSpPr>
          <p:cNvPr id="9" name="Shape 9"/>
          <p:cNvSpPr/>
          <p:nvPr/>
        </p:nvSpPr>
        <p:spPr>
          <a:xfrm>
            <a:off x="4343400" y="1828800"/>
            <a:ext cx="3520440" cy="347472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0" name="Shape 10"/>
          <p:cNvSpPr/>
          <p:nvPr/>
        </p:nvSpPr>
        <p:spPr>
          <a:xfrm>
            <a:off x="4343400" y="1828800"/>
            <a:ext cx="64008" cy="347472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4526280" y="199339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Notifications</a:t>
            </a:r>
            <a:endParaRPr lang="en-US"/>
          </a:p>
        </p:txBody>
      </p:sp>
      <p:sp>
        <p:nvSpPr>
          <p:cNvPr id="12" name="Shape 12"/>
          <p:cNvSpPr/>
          <p:nvPr/>
        </p:nvSpPr>
        <p:spPr>
          <a:xfrm>
            <a:off x="4526280" y="2633472"/>
            <a:ext cx="3154680" cy="252374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Pending: awaiting review.</a:t>
            </a:r>
            <a:endParaRPr lang="en-US"/>
          </a:p>
          <a:p>
            <a:pPr algn="l">
              <a:lnSpc>
                <a:spcPct val="110000"/>
              </a:lnSpc>
              <a:spcAft>
                <a:spcPts val="650"/>
              </a:spcAft>
            </a:pPr>
            <a:r>
              <a:rPr lang="en-US" sz="1900" b="0">
                <a:solidFill>
                  <a:srgbClr val="213547"/>
                </a:solidFill>
                <a:latin typeface="Aptos"/>
              </a:rPr>
              <a:t>Approved: correction applied.</a:t>
            </a:r>
            <a:endParaRPr lang="en-US"/>
          </a:p>
          <a:p>
            <a:pPr algn="l">
              <a:lnSpc>
                <a:spcPct val="110000"/>
              </a:lnSpc>
              <a:spcAft>
                <a:spcPts val="650"/>
              </a:spcAft>
            </a:pPr>
            <a:r>
              <a:rPr lang="en-US" sz="1900" b="0">
                <a:solidFill>
                  <a:srgbClr val="213547"/>
                </a:solidFill>
                <a:latin typeface="Aptos"/>
              </a:rPr>
              <a:t>Declined: correction not applied.</a:t>
            </a:r>
            <a:endParaRPr lang="en-US"/>
          </a:p>
          <a:p>
            <a:pPr algn="l">
              <a:lnSpc>
                <a:spcPct val="110000"/>
              </a:lnSpc>
              <a:spcAft>
                <a:spcPts val="650"/>
              </a:spcAft>
            </a:pPr>
            <a:r>
              <a:rPr lang="en-US" sz="1900" b="0">
                <a:solidFill>
                  <a:srgbClr val="213547"/>
                </a:solidFill>
                <a:latin typeface="Aptos"/>
              </a:rPr>
              <a:t>Read the reviewer’s notes.</a:t>
            </a:r>
            <a:endParaRPr lang="en-US"/>
          </a:p>
          <a:p>
            <a:pPr algn="l">
              <a:lnSpc>
                <a:spcPct val="110000"/>
              </a:lnSpc>
              <a:spcAft>
                <a:spcPts val="650"/>
              </a:spcAft>
            </a:pPr>
            <a:r>
              <a:rPr lang="en-US" sz="1900" b="0">
                <a:solidFill>
                  <a:srgbClr val="213547"/>
                </a:solidFill>
                <a:latin typeface="Aptos"/>
              </a:rPr>
              <a:t>Reopen approved records.</a:t>
            </a:r>
            <a:endParaRPr lang="en-US"/>
          </a:p>
        </p:txBody>
      </p:sp>
      <p:sp>
        <p:nvSpPr>
          <p:cNvPr id="13" name="Shape 13"/>
          <p:cNvSpPr/>
          <p:nvPr/>
        </p:nvSpPr>
        <p:spPr>
          <a:xfrm>
            <a:off x="8092440" y="1828800"/>
            <a:ext cx="3520440" cy="347472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4" name="Shape 14"/>
          <p:cNvSpPr/>
          <p:nvPr/>
        </p:nvSpPr>
        <p:spPr>
          <a:xfrm>
            <a:off x="8092440" y="1828800"/>
            <a:ext cx="64008" cy="3474720"/>
          </a:xfrm>
          <a:prstGeom prst="rect">
            <a:avLst/>
          </a:prstGeom>
          <a:solidFill>
            <a:srgbClr val="17365D"/>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8275320" y="1993392"/>
            <a:ext cx="315468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7365D"/>
                </a:solidFill>
                <a:latin typeface="Aptos"/>
              </a:rPr>
              <a:t>Activity history</a:t>
            </a:r>
            <a:endParaRPr lang="en-US"/>
          </a:p>
        </p:txBody>
      </p:sp>
      <p:sp>
        <p:nvSpPr>
          <p:cNvPr id="16" name="Shape 16"/>
          <p:cNvSpPr/>
          <p:nvPr/>
        </p:nvSpPr>
        <p:spPr>
          <a:xfrm>
            <a:off x="8275320" y="2633472"/>
            <a:ext cx="3154680" cy="252374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Authorized roles can inspect</a:t>
            </a:r>
            <a:endParaRPr lang="en-US"/>
          </a:p>
          <a:p>
            <a:pPr algn="l">
              <a:lnSpc>
                <a:spcPct val="110000"/>
              </a:lnSpc>
              <a:spcAft>
                <a:spcPts val="650"/>
              </a:spcAft>
            </a:pPr>
            <a:r>
              <a:rPr lang="en-US" sz="1900" b="0">
                <a:solidFill>
                  <a:srgbClr val="213547"/>
                </a:solidFill>
                <a:latin typeface="Aptos"/>
              </a:rPr>
              <a:t>recorded changes.</a:t>
            </a:r>
            <a:endParaRPr lang="en-US"/>
          </a:p>
          <a:p>
            <a:pPr algn="l">
              <a:lnSpc>
                <a:spcPct val="110000"/>
              </a:lnSpc>
              <a:spcAft>
                <a:spcPts val="650"/>
              </a:spcAft>
            </a:pPr>
            <a:r>
              <a:rPr lang="en-US" sz="1900" b="0">
                <a:solidFill>
                  <a:srgbClr val="213547"/>
                </a:solidFill>
                <a:latin typeface="Aptos"/>
              </a:rPr>
              <a:t>Use history to trace edits.</a:t>
            </a:r>
            <a:endParaRPr lang="en-US"/>
          </a:p>
          <a:p>
            <a:pPr algn="l">
              <a:lnSpc>
                <a:spcPct val="110000"/>
              </a:lnSpc>
              <a:spcAft>
                <a:spcPts val="650"/>
              </a:spcAft>
            </a:pPr>
            <a:r>
              <a:rPr lang="en-US" sz="1900" b="0">
                <a:solidFill>
                  <a:srgbClr val="213547"/>
                </a:solidFill>
                <a:latin typeface="Aptos"/>
              </a:rPr>
              <a:t>Correct values through the</a:t>
            </a:r>
            <a:endParaRPr lang="en-US"/>
          </a:p>
          <a:p>
            <a:pPr algn="l">
              <a:lnSpc>
                <a:spcPct val="110000"/>
              </a:lnSpc>
              <a:spcAft>
                <a:spcPts val="650"/>
              </a:spcAft>
            </a:pPr>
            <a:r>
              <a:rPr lang="en-US" sz="1900" b="0">
                <a:solidFill>
                  <a:srgbClr val="213547"/>
                </a:solidFill>
                <a:latin typeface="Aptos"/>
              </a:rPr>
              <a:t>normal entry or review process.</a:t>
            </a:r>
            <a:endParaRPr lang="en-US"/>
          </a:p>
        </p:txBody>
      </p:sp>
      <p:sp>
        <p:nvSpPr>
          <p:cNvPr id="17" name="Shape 17"/>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10 / 13</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Monitor performance and generate reports</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Use confirmed records within the selected reporting scope</a:t>
            </a:r>
            <a:endParaRPr lang="en-US"/>
          </a:p>
        </p:txBody>
      </p:sp>
      <p:sp>
        <p:nvSpPr>
          <p:cNvPr id="5" name="Shape 5"/>
          <p:cNvSpPr/>
          <p:nvPr/>
        </p:nvSpPr>
        <p:spPr>
          <a:xfrm>
            <a:off x="594360" y="1828800"/>
            <a:ext cx="3200400" cy="960120"/>
          </a:xfrm>
          <a:prstGeom prst="round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Saved performance records</a:t>
            </a:r>
            <a:endParaRPr lang="en-US"/>
          </a:p>
        </p:txBody>
      </p:sp>
      <p:sp>
        <p:nvSpPr>
          <p:cNvPr id="6" name="Shape 6"/>
          <p:cNvSpPr/>
          <p:nvPr/>
        </p:nvSpPr>
        <p:spPr>
          <a:xfrm>
            <a:off x="3931920" y="2194560"/>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4526280" y="1828800"/>
            <a:ext cx="3063240" cy="960120"/>
          </a:xfrm>
          <a:prstGeom prst="roundRect">
            <a:avLst/>
          </a:prstGeom>
          <a:solidFill>
            <a:srgbClr val="2146B5"/>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Dashboard and summaries</a:t>
            </a:r>
            <a:endParaRPr lang="en-US"/>
          </a:p>
        </p:txBody>
      </p:sp>
      <p:sp>
        <p:nvSpPr>
          <p:cNvPr id="8" name="Shape 8"/>
          <p:cNvSpPr/>
          <p:nvPr/>
        </p:nvSpPr>
        <p:spPr>
          <a:xfrm>
            <a:off x="7726680" y="2194560"/>
            <a:ext cx="347472" cy="237744"/>
          </a:xfrm>
          <a:prstGeom prst="rightArrow">
            <a:avLst/>
          </a:prstGeom>
          <a:solidFill>
            <a:srgbClr val="94A3B8"/>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9" name="Shape 9"/>
          <p:cNvSpPr/>
          <p:nvPr/>
        </p:nvSpPr>
        <p:spPr>
          <a:xfrm>
            <a:off x="8275320" y="1828800"/>
            <a:ext cx="3246120" cy="960120"/>
          </a:xfrm>
          <a:prstGeom prst="round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Generate Excel report</a:t>
            </a:r>
            <a:endParaRPr lang="en-US"/>
          </a:p>
        </p:txBody>
      </p:sp>
      <p:sp>
        <p:nvSpPr>
          <p:cNvPr id="10" name="Shape 10"/>
          <p:cNvSpPr/>
          <p:nvPr/>
        </p:nvSpPr>
        <p:spPr>
          <a:xfrm>
            <a:off x="640080" y="3611880"/>
            <a:ext cx="5303520" cy="205740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640080" y="3611880"/>
            <a:ext cx="64008" cy="205740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2" name="Shape 12"/>
          <p:cNvSpPr/>
          <p:nvPr/>
        </p:nvSpPr>
        <p:spPr>
          <a:xfrm>
            <a:off x="822960" y="377647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Monitor</a:t>
            </a:r>
            <a:endParaRPr lang="en-US"/>
          </a:p>
        </p:txBody>
      </p:sp>
      <p:sp>
        <p:nvSpPr>
          <p:cNvPr id="13" name="Shape 13"/>
          <p:cNvSpPr/>
          <p:nvPr/>
        </p:nvSpPr>
        <p:spPr>
          <a:xfrm>
            <a:off x="822960" y="4416552"/>
            <a:ext cx="4937760" cy="110642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Check office, sector, year and reporting period.</a:t>
            </a:r>
            <a:endParaRPr lang="en-US"/>
          </a:p>
          <a:p>
            <a:pPr algn="l">
              <a:lnSpc>
                <a:spcPct val="110000"/>
              </a:lnSpc>
              <a:spcAft>
                <a:spcPts val="650"/>
              </a:spcAft>
            </a:pPr>
            <a:r>
              <a:rPr lang="en-US" sz="1900" b="0">
                <a:solidFill>
                  <a:srgbClr val="213547"/>
                </a:solidFill>
                <a:latin typeface="Aptos"/>
              </a:rPr>
              <a:t>Review physical outputs, financial utilization</a:t>
            </a:r>
            <a:endParaRPr lang="en-US"/>
          </a:p>
          <a:p>
            <a:pPr algn="l">
              <a:lnSpc>
                <a:spcPct val="110000"/>
              </a:lnSpc>
              <a:spcAft>
                <a:spcPts val="650"/>
              </a:spcAft>
            </a:pPr>
            <a:r>
              <a:rPr lang="en-US" sz="1900" b="0">
                <a:solidFill>
                  <a:srgbClr val="213547"/>
                </a:solidFill>
                <a:latin typeface="Aptos"/>
              </a:rPr>
              <a:t>and delayed accomplishments.</a:t>
            </a:r>
            <a:endParaRPr lang="en-US"/>
          </a:p>
        </p:txBody>
      </p:sp>
      <p:sp>
        <p:nvSpPr>
          <p:cNvPr id="14" name="Shape 14"/>
          <p:cNvSpPr/>
          <p:nvPr/>
        </p:nvSpPr>
        <p:spPr>
          <a:xfrm>
            <a:off x="6263640" y="3611880"/>
            <a:ext cx="5303520" cy="205740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5" name="Shape 15"/>
          <p:cNvSpPr/>
          <p:nvPr/>
        </p:nvSpPr>
        <p:spPr>
          <a:xfrm>
            <a:off x="6263640" y="3611880"/>
            <a:ext cx="64008" cy="205740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6" name="Shape 16"/>
          <p:cNvSpPr/>
          <p:nvPr/>
        </p:nvSpPr>
        <p:spPr>
          <a:xfrm>
            <a:off x="6446520" y="377647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Export</a:t>
            </a:r>
            <a:endParaRPr lang="en-US"/>
          </a:p>
        </p:txBody>
      </p:sp>
      <p:sp>
        <p:nvSpPr>
          <p:cNvPr id="17" name="Shape 17"/>
          <p:cNvSpPr/>
          <p:nvPr/>
        </p:nvSpPr>
        <p:spPr>
          <a:xfrm>
            <a:off x="6446520" y="4416552"/>
            <a:ext cx="4937760" cy="110642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Save and verify source values first.</a:t>
            </a:r>
            <a:endParaRPr lang="en-US"/>
          </a:p>
          <a:p>
            <a:pPr algn="l">
              <a:lnSpc>
                <a:spcPct val="110000"/>
              </a:lnSpc>
              <a:spcAft>
                <a:spcPts val="650"/>
              </a:spcAft>
            </a:pPr>
            <a:r>
              <a:rPr lang="en-US" sz="1900" b="0">
                <a:solidFill>
                  <a:srgbClr val="213547"/>
                </a:solidFill>
                <a:latin typeface="Aptos"/>
              </a:rPr>
              <a:t>Generate the sector report.</a:t>
            </a:r>
            <a:endParaRPr lang="en-US"/>
          </a:p>
          <a:p>
            <a:pPr algn="l">
              <a:lnSpc>
                <a:spcPct val="110000"/>
              </a:lnSpc>
              <a:spcAft>
                <a:spcPts val="650"/>
              </a:spcAft>
            </a:pPr>
            <a:r>
              <a:rPr lang="en-US" sz="1900" b="0">
                <a:solidFill>
                  <a:srgbClr val="213547"/>
                </a:solidFill>
                <a:latin typeface="Aptos"/>
              </a:rPr>
              <a:t>Check office coverage and totals in Excel.</a:t>
            </a:r>
            <a:endParaRPr lang="en-US"/>
          </a:p>
        </p:txBody>
      </p:sp>
      <p:sp>
        <p:nvSpPr>
          <p:cNvPr id="18" name="Shape 18"/>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11 / 13</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Walkthrough: an unusual monthly value</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ABRA example using the revised non-cumulative rules</a:t>
            </a:r>
            <a:endParaRPr lang="en-US"/>
          </a:p>
        </p:txBody>
      </p:sp>
      <p:sp>
        <p:nvSpPr>
          <p:cNvPr id="5" name="Shape 5"/>
          <p:cNvSpPr/>
          <p:nvPr/>
        </p:nvSpPr>
        <p:spPr>
          <a:xfrm>
            <a:off x="685800" y="1874520"/>
            <a:ext cx="2057400" cy="640080"/>
          </a:xfrm>
          <a:prstGeom prst="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JUL</a:t>
            </a:r>
            <a:endParaRPr lang="en-US"/>
          </a:p>
        </p:txBody>
      </p:sp>
      <p:sp>
        <p:nvSpPr>
          <p:cNvPr id="6" name="Shape 6"/>
          <p:cNvSpPr/>
          <p:nvPr/>
        </p:nvSpPr>
        <p:spPr>
          <a:xfrm>
            <a:off x="685800" y="2606040"/>
            <a:ext cx="2057400" cy="914400"/>
          </a:xfrm>
          <a:prstGeom prst="roundRect">
            <a:avLst/>
          </a:prstGeom>
          <a:solidFill>
            <a:srgbClr val="FFFFFF"/>
          </a:solidFill>
          <a:ln>
            <a:noFill/>
          </a:ln>
        </p:spPr>
        <p:txBody>
          <a:bodyPr wrap="square" lIns="109728" rIns="109728" tIns="91440" bIns="54864" anchor="ctr">
            <a:normAutofit/>
          </a:bodyPr>
          <a:lstStyle/>
          <a:p>
            <a:pPr algn="ctr">
              <a:lnSpc>
                <a:spcPct val="110000"/>
              </a:lnSpc>
              <a:spcAft>
                <a:spcPts val="650"/>
              </a:spcAft>
            </a:pPr>
            <a:r>
              <a:rPr lang="en-US" sz="3200" b="1">
                <a:solidFill>
                  <a:srgbClr val="2146B5"/>
                </a:solidFill>
                <a:latin typeface="Aptos"/>
              </a:rPr>
              <a:t>11</a:t>
            </a:r>
            <a:endParaRPr lang="en-US"/>
          </a:p>
        </p:txBody>
      </p:sp>
      <p:sp>
        <p:nvSpPr>
          <p:cNvPr id="7" name="Shape 7"/>
          <p:cNvSpPr/>
          <p:nvPr/>
        </p:nvSpPr>
        <p:spPr>
          <a:xfrm>
            <a:off x="2990088" y="1874520"/>
            <a:ext cx="2057400" cy="640080"/>
          </a:xfrm>
          <a:prstGeom prst="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AUG</a:t>
            </a:r>
            <a:endParaRPr lang="en-US"/>
          </a:p>
        </p:txBody>
      </p:sp>
      <p:sp>
        <p:nvSpPr>
          <p:cNvPr id="8" name="Shape 8"/>
          <p:cNvSpPr/>
          <p:nvPr/>
        </p:nvSpPr>
        <p:spPr>
          <a:xfrm>
            <a:off x="2990088" y="2606040"/>
            <a:ext cx="2057400" cy="914400"/>
          </a:xfrm>
          <a:prstGeom prst="roundRect">
            <a:avLst/>
          </a:prstGeom>
          <a:solidFill>
            <a:srgbClr val="FFFFFF"/>
          </a:solidFill>
          <a:ln>
            <a:noFill/>
          </a:ln>
        </p:spPr>
        <p:txBody>
          <a:bodyPr wrap="square" lIns="109728" rIns="109728" tIns="91440" bIns="54864" anchor="ctr">
            <a:normAutofit/>
          </a:bodyPr>
          <a:lstStyle/>
          <a:p>
            <a:pPr algn="ctr">
              <a:lnSpc>
                <a:spcPct val="110000"/>
              </a:lnSpc>
              <a:spcAft>
                <a:spcPts val="650"/>
              </a:spcAft>
            </a:pPr>
            <a:r>
              <a:rPr lang="en-US" sz="3200" b="1">
                <a:solidFill>
                  <a:srgbClr val="2146B5"/>
                </a:solidFill>
                <a:latin typeface="Aptos"/>
              </a:rPr>
              <a:t>11</a:t>
            </a:r>
            <a:endParaRPr lang="en-US"/>
          </a:p>
        </p:txBody>
      </p:sp>
      <p:sp>
        <p:nvSpPr>
          <p:cNvPr id="9" name="Shape 9"/>
          <p:cNvSpPr/>
          <p:nvPr/>
        </p:nvSpPr>
        <p:spPr>
          <a:xfrm>
            <a:off x="5294376" y="1874520"/>
            <a:ext cx="2057400" cy="640080"/>
          </a:xfrm>
          <a:prstGeom prst="rect">
            <a:avLst/>
          </a:prstGeom>
          <a:solidFill>
            <a:srgbClr val="159B9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SEP</a:t>
            </a:r>
            <a:endParaRPr lang="en-US"/>
          </a:p>
        </p:txBody>
      </p:sp>
      <p:sp>
        <p:nvSpPr>
          <p:cNvPr id="10" name="Shape 10"/>
          <p:cNvSpPr/>
          <p:nvPr/>
        </p:nvSpPr>
        <p:spPr>
          <a:xfrm>
            <a:off x="5294376" y="2606040"/>
            <a:ext cx="2057400" cy="914400"/>
          </a:xfrm>
          <a:prstGeom prst="roundRect">
            <a:avLst/>
          </a:prstGeom>
          <a:solidFill>
            <a:srgbClr val="FFFFFF"/>
          </a:solidFill>
          <a:ln>
            <a:noFill/>
          </a:ln>
        </p:spPr>
        <p:txBody>
          <a:bodyPr wrap="square" lIns="109728" rIns="109728" tIns="91440" bIns="54864" anchor="ctr">
            <a:normAutofit/>
          </a:bodyPr>
          <a:lstStyle/>
          <a:p>
            <a:pPr algn="ctr">
              <a:lnSpc>
                <a:spcPct val="110000"/>
              </a:lnSpc>
              <a:spcAft>
                <a:spcPts val="650"/>
              </a:spcAft>
            </a:pPr>
            <a:r>
              <a:rPr lang="en-US" sz="3200" b="1">
                <a:solidFill>
                  <a:srgbClr val="2146B5"/>
                </a:solidFill>
                <a:latin typeface="Aptos"/>
              </a:rPr>
              <a:t>69</a:t>
            </a:r>
            <a:endParaRPr lang="en-US"/>
          </a:p>
        </p:txBody>
      </p:sp>
      <p:sp>
        <p:nvSpPr>
          <p:cNvPr id="11" name="Shape 11"/>
          <p:cNvSpPr/>
          <p:nvPr/>
        </p:nvSpPr>
        <p:spPr>
          <a:xfrm>
            <a:off x="7598664" y="1874520"/>
            <a:ext cx="2057400" cy="640080"/>
          </a:xfrm>
          <a:prstGeom prst="rect">
            <a:avLst/>
          </a:prstGeom>
          <a:solidFill>
            <a:srgbClr val="EF4444"/>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Q3</a:t>
            </a:r>
            <a:endParaRPr lang="en-US"/>
          </a:p>
        </p:txBody>
      </p:sp>
      <p:sp>
        <p:nvSpPr>
          <p:cNvPr id="12" name="Shape 12"/>
          <p:cNvSpPr/>
          <p:nvPr/>
        </p:nvSpPr>
        <p:spPr>
          <a:xfrm>
            <a:off x="7598664" y="2606040"/>
            <a:ext cx="2057400" cy="914400"/>
          </a:xfrm>
          <a:prstGeom prst="roundRect">
            <a:avLst/>
          </a:prstGeom>
          <a:solidFill>
            <a:srgbClr val="FFFFFF"/>
          </a:solidFill>
          <a:ln>
            <a:noFill/>
          </a:ln>
        </p:spPr>
        <p:txBody>
          <a:bodyPr wrap="square" lIns="109728" rIns="109728" tIns="91440" bIns="54864" anchor="ctr">
            <a:normAutofit/>
          </a:bodyPr>
          <a:lstStyle/>
          <a:p>
            <a:pPr algn="ctr">
              <a:lnSpc>
                <a:spcPct val="110000"/>
              </a:lnSpc>
              <a:spcAft>
                <a:spcPts val="650"/>
              </a:spcAft>
            </a:pPr>
            <a:r>
              <a:rPr lang="en-US" sz="3200" b="1">
                <a:solidFill>
                  <a:srgbClr val="2146B5"/>
                </a:solidFill>
                <a:latin typeface="Aptos"/>
              </a:rPr>
              <a:t>11</a:t>
            </a:r>
            <a:endParaRPr lang="en-US"/>
          </a:p>
        </p:txBody>
      </p:sp>
      <p:sp>
        <p:nvSpPr>
          <p:cNvPr id="13" name="Shape 13"/>
          <p:cNvSpPr/>
          <p:nvPr/>
        </p:nvSpPr>
        <p:spPr>
          <a:xfrm>
            <a:off x="9902952" y="1874520"/>
            <a:ext cx="2057400" cy="640080"/>
          </a:xfrm>
          <a:prstGeom prst="rect">
            <a:avLst/>
          </a:prstGeom>
          <a:solidFill>
            <a:srgbClr val="17365D"/>
          </a:solidFill>
          <a:ln>
            <a:noFill/>
          </a:ln>
        </p:spPr>
        <p:txBody>
          <a:bodyPr wrap="square" lIns="109728" rIns="109728" tIns="91440" bIns="54864" anchor="ctr">
            <a:normAutofit/>
          </a:bodyPr>
          <a:lstStyle/>
          <a:p>
            <a:pPr algn="ctr">
              <a:lnSpc>
                <a:spcPct val="110000"/>
              </a:lnSpc>
              <a:spcAft>
                <a:spcPts val="650"/>
              </a:spcAft>
            </a:pPr>
            <a:r>
              <a:rPr lang="en-US" sz="2000" b="1">
                <a:solidFill>
                  <a:srgbClr val="FFFFFF"/>
                </a:solidFill>
                <a:latin typeface="Aptos"/>
              </a:rPr>
              <a:t>ANNUAL</a:t>
            </a:r>
            <a:endParaRPr lang="en-US"/>
          </a:p>
        </p:txBody>
      </p:sp>
      <p:sp>
        <p:nvSpPr>
          <p:cNvPr id="14" name="Shape 14"/>
          <p:cNvSpPr/>
          <p:nvPr/>
        </p:nvSpPr>
        <p:spPr>
          <a:xfrm>
            <a:off x="9902952" y="2606040"/>
            <a:ext cx="2057400" cy="914400"/>
          </a:xfrm>
          <a:prstGeom prst="roundRect">
            <a:avLst/>
          </a:prstGeom>
          <a:solidFill>
            <a:srgbClr val="FFFFFF"/>
          </a:solidFill>
          <a:ln>
            <a:noFill/>
          </a:ln>
        </p:spPr>
        <p:txBody>
          <a:bodyPr wrap="square" lIns="109728" rIns="109728" tIns="91440" bIns="54864" anchor="ctr">
            <a:normAutofit/>
          </a:bodyPr>
          <a:lstStyle/>
          <a:p>
            <a:pPr algn="ctr">
              <a:lnSpc>
                <a:spcPct val="110000"/>
              </a:lnSpc>
              <a:spcAft>
                <a:spcPts val="650"/>
              </a:spcAft>
            </a:pPr>
            <a:r>
              <a:rPr lang="en-US" sz="3200" b="1">
                <a:solidFill>
                  <a:srgbClr val="2146B5"/>
                </a:solidFill>
                <a:latin typeface="Aptos"/>
              </a:rPr>
              <a:t>11</a:t>
            </a:r>
            <a:endParaRPr lang="en-US"/>
          </a:p>
        </p:txBody>
      </p:sp>
      <p:sp>
        <p:nvSpPr>
          <p:cNvPr id="15" name="Shape 15"/>
          <p:cNvSpPr/>
          <p:nvPr/>
        </p:nvSpPr>
        <p:spPr>
          <a:xfrm>
            <a:off x="777240" y="3886200"/>
            <a:ext cx="10789920" cy="82296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400" b="1">
                <a:solidFill>
                  <a:srgbClr val="2146B5"/>
                </a:solidFill>
                <a:latin typeface="Aptos"/>
              </a:rPr>
              <a:t>Monthly source: 11, 11, 69  →  most frequent value: 11  →  Q3: 11</a:t>
            </a:r>
            <a:endParaRPr lang="en-US"/>
          </a:p>
        </p:txBody>
      </p:sp>
      <p:sp>
        <p:nvSpPr>
          <p:cNvPr id="16" name="Shape 16"/>
          <p:cNvSpPr/>
          <p:nvPr/>
        </p:nvSpPr>
        <p:spPr>
          <a:xfrm>
            <a:off x="777240" y="4754880"/>
            <a:ext cx="10789920" cy="82296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400" b="1">
                <a:solidFill>
                  <a:srgbClr val="213547"/>
                </a:solidFill>
                <a:latin typeface="Aptos"/>
              </a:rPr>
              <a:t>Four quarters: 11, 11, 11, 11  →  annual total: 11</a:t>
            </a:r>
            <a:endParaRPr lang="en-US"/>
          </a:p>
        </p:txBody>
      </p:sp>
      <p:sp>
        <p:nvSpPr>
          <p:cNvPr id="17" name="Shape 17"/>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12 / 13</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Shape 2"/>
          <p:cNvSpPr/>
          <p:nvPr/>
        </p:nvSpPr>
        <p:spPr>
          <a:xfrm>
            <a:off x="0" y="0"/>
            <a:ext cx="12191970" cy="73152"/>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1000" b="0">
                <a:solidFill>
                  <a:srgbClr val="213547"/>
                </a:solidFill>
                <a:latin typeface="Aptos"/>
              </a:rPr>
              <a:t/>
            </a:r>
            <a:endParaRPr lang="en-US"/>
          </a:p>
        </p:txBody>
      </p:sp>
      <p:sp>
        <p:nvSpPr>
          <p:cNvPr id="3" name="Shape 3"/>
          <p:cNvSpPr/>
          <p:nvPr/>
        </p:nvSpPr>
        <p:spPr>
          <a:xfrm>
            <a:off x="566928" y="393192"/>
            <a:ext cx="11064240" cy="64008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3000" b="1">
                <a:solidFill>
                  <a:srgbClr val="17365D"/>
                </a:solidFill>
                <a:latin typeface="Aptos"/>
              </a:rPr>
              <a:t>A complete reporting cycle</a:t>
            </a:r>
            <a:endParaRPr lang="en-US"/>
          </a:p>
        </p:txBody>
      </p:sp>
      <p:sp>
        <p:nvSpPr>
          <p:cNvPr id="4" name="Shape 4"/>
          <p:cNvSpPr/>
          <p:nvPr/>
        </p:nvSpPr>
        <p:spPr>
          <a:xfrm>
            <a:off x="594360" y="1097280"/>
            <a:ext cx="1097280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700" b="0">
                <a:solidFill>
                  <a:srgbClr val="64748B"/>
                </a:solidFill>
                <a:latin typeface="Aptos"/>
              </a:rPr>
              <a:t>Use the same sequence for every sector and reporting year</a:t>
            </a:r>
            <a:endParaRPr lang="en-US"/>
          </a:p>
        </p:txBody>
      </p:sp>
      <p:sp>
        <p:nvSpPr>
          <p:cNvPr id="5" name="Shape 5"/>
          <p:cNvSpPr/>
          <p:nvPr/>
        </p:nvSpPr>
        <p:spPr>
          <a:xfrm>
            <a:off x="640080" y="1783080"/>
            <a:ext cx="5303520" cy="342900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6" name="Shape 6"/>
          <p:cNvSpPr/>
          <p:nvPr/>
        </p:nvSpPr>
        <p:spPr>
          <a:xfrm>
            <a:off x="640080" y="1783080"/>
            <a:ext cx="64008" cy="3429000"/>
          </a:xfrm>
          <a:prstGeom prst="rect">
            <a:avLst/>
          </a:prstGeom>
          <a:solidFill>
            <a:srgbClr val="2146B5"/>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7" name="Shape 7"/>
          <p:cNvSpPr/>
          <p:nvPr/>
        </p:nvSpPr>
        <p:spPr>
          <a:xfrm>
            <a:off x="822960" y="194767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2146B5"/>
                </a:solidFill>
                <a:latin typeface="Aptos"/>
              </a:rPr>
              <a:t>Before entry</a:t>
            </a:r>
            <a:endParaRPr lang="en-US"/>
          </a:p>
        </p:txBody>
      </p:sp>
      <p:sp>
        <p:nvSpPr>
          <p:cNvPr id="8" name="Shape 8"/>
          <p:cNvSpPr/>
          <p:nvPr/>
        </p:nvSpPr>
        <p:spPr>
          <a:xfrm>
            <a:off x="822960" y="2587752"/>
            <a:ext cx="4937760" cy="247802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Confirm your account and assigned office.</a:t>
            </a:r>
            <a:endParaRPr lang="en-US"/>
          </a:p>
          <a:p>
            <a:pPr algn="l">
              <a:lnSpc>
                <a:spcPct val="110000"/>
              </a:lnSpc>
              <a:spcAft>
                <a:spcPts val="650"/>
              </a:spcAft>
            </a:pPr>
            <a:r>
              <a:rPr lang="en-US" sz="1900" b="0">
                <a:solidFill>
                  <a:srgbClr val="213547"/>
                </a:solidFill>
                <a:latin typeface="Aptos"/>
              </a:rPr>
              <a:t>Select the sector and reporting year.</a:t>
            </a:r>
            <a:endParaRPr lang="en-US"/>
          </a:p>
          <a:p>
            <a:pPr algn="l">
              <a:lnSpc>
                <a:spcPct val="110000"/>
              </a:lnSpc>
              <a:spcAft>
                <a:spcPts val="650"/>
              </a:spcAft>
            </a:pPr>
            <a:r>
              <a:rPr lang="en-US" sz="1900" b="0">
                <a:solidFill>
                  <a:srgbClr val="213547"/>
                </a:solidFill>
                <a:latin typeface="Aptos"/>
              </a:rPr>
              <a:t>Identify the PAP, indicator and unit.</a:t>
            </a:r>
            <a:endParaRPr lang="en-US"/>
          </a:p>
          <a:p>
            <a:pPr algn="l">
              <a:lnSpc>
                <a:spcPct val="110000"/>
              </a:lnSpc>
              <a:spcAft>
                <a:spcPts val="650"/>
              </a:spcAft>
            </a:pPr>
            <a:r>
              <a:rPr lang="en-US" sz="1900" b="0">
                <a:solidFill>
                  <a:srgbClr val="213547"/>
                </a:solidFill>
                <a:latin typeface="Aptos"/>
              </a:rPr>
              <a:t>Use verified source records.</a:t>
            </a:r>
            <a:endParaRPr lang="en-US"/>
          </a:p>
        </p:txBody>
      </p:sp>
      <p:sp>
        <p:nvSpPr>
          <p:cNvPr id="9" name="Shape 9"/>
          <p:cNvSpPr/>
          <p:nvPr/>
        </p:nvSpPr>
        <p:spPr>
          <a:xfrm>
            <a:off x="6263640" y="1783080"/>
            <a:ext cx="5303520" cy="3429000"/>
          </a:xfrm>
          <a:prstGeom prst="roundRect">
            <a:avLst/>
          </a:prstGeom>
          <a:solidFill>
            <a:srgbClr val="FFFFFF"/>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0" name="Shape 10"/>
          <p:cNvSpPr/>
          <p:nvPr/>
        </p:nvSpPr>
        <p:spPr>
          <a:xfrm>
            <a:off x="6263640" y="1783080"/>
            <a:ext cx="64008" cy="3429000"/>
          </a:xfrm>
          <a:prstGeom prst="rect">
            <a:avLst/>
          </a:prstGeom>
          <a:solidFill>
            <a:srgbClr val="159B94"/>
          </a:solidFill>
          <a:ln>
            <a:noFill/>
          </a:ln>
        </p:spPr>
        <p:txBody>
          <a:bodyPr wrap="square" lIns="109728" rIns="109728" tIns="91440" bIns="54864" anchor="t">
            <a:normAutofit/>
          </a:bodyPr>
          <a:lstStyle/>
          <a:p>
            <a:pPr algn="l">
              <a:lnSpc>
                <a:spcPct val="110000"/>
              </a:lnSpc>
              <a:spcAft>
                <a:spcPts val="650"/>
              </a:spcAft>
            </a:pPr>
            <a:r>
              <a:rPr lang="en-US" sz="2000" b="0">
                <a:solidFill>
                  <a:srgbClr val="213547"/>
                </a:solidFill>
                <a:latin typeface="Aptos"/>
              </a:rPr>
              <a:t/>
            </a:r>
            <a:endParaRPr lang="en-US"/>
          </a:p>
        </p:txBody>
      </p:sp>
      <p:sp>
        <p:nvSpPr>
          <p:cNvPr id="11" name="Shape 11"/>
          <p:cNvSpPr/>
          <p:nvPr/>
        </p:nvSpPr>
        <p:spPr>
          <a:xfrm>
            <a:off x="6446520" y="1947672"/>
            <a:ext cx="4937760" cy="50292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100" b="1">
                <a:solidFill>
                  <a:srgbClr val="159B94"/>
                </a:solidFill>
                <a:latin typeface="Aptos"/>
              </a:rPr>
              <a:t>After entry</a:t>
            </a:r>
            <a:endParaRPr lang="en-US"/>
          </a:p>
        </p:txBody>
      </p:sp>
      <p:sp>
        <p:nvSpPr>
          <p:cNvPr id="12" name="Shape 12"/>
          <p:cNvSpPr/>
          <p:nvPr/>
        </p:nvSpPr>
        <p:spPr>
          <a:xfrm>
            <a:off x="6446520" y="2587752"/>
            <a:ext cx="4937760" cy="2478024"/>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1900" b="0">
                <a:solidFill>
                  <a:srgbClr val="213547"/>
                </a:solidFill>
                <a:latin typeface="Aptos"/>
              </a:rPr>
              <a:t>Check calculations and the save result.</a:t>
            </a:r>
            <a:endParaRPr lang="en-US"/>
          </a:p>
          <a:p>
            <a:pPr algn="l">
              <a:lnSpc>
                <a:spcPct val="110000"/>
              </a:lnSpc>
              <a:spcAft>
                <a:spcPts val="650"/>
              </a:spcAft>
            </a:pPr>
            <a:r>
              <a:rPr lang="en-US" sz="1900" b="0">
                <a:solidFill>
                  <a:srgbClr val="213547"/>
                </a:solidFill>
                <a:latin typeface="Aptos"/>
              </a:rPr>
              <a:t>Track locked-month correction decisions.</a:t>
            </a:r>
            <a:endParaRPr lang="en-US"/>
          </a:p>
          <a:p>
            <a:pPr algn="l">
              <a:lnSpc>
                <a:spcPct val="110000"/>
              </a:lnSpc>
              <a:spcAft>
                <a:spcPts val="650"/>
              </a:spcAft>
            </a:pPr>
            <a:r>
              <a:rPr lang="en-US" sz="1900" b="0">
                <a:solidFill>
                  <a:srgbClr val="213547"/>
                </a:solidFill>
                <a:latin typeface="Aptos"/>
              </a:rPr>
              <a:t>Reload and verify confirmed values.</a:t>
            </a:r>
            <a:endParaRPr lang="en-US"/>
          </a:p>
          <a:p>
            <a:pPr algn="l">
              <a:lnSpc>
                <a:spcPct val="110000"/>
              </a:lnSpc>
              <a:spcAft>
                <a:spcPts val="650"/>
              </a:spcAft>
            </a:pPr>
            <a:r>
              <a:rPr lang="en-US" sz="1900" b="0">
                <a:solidFill>
                  <a:srgbClr val="213547"/>
                </a:solidFill>
                <a:latin typeface="Aptos"/>
              </a:rPr>
              <a:t>Review summaries, export and log out.</a:t>
            </a:r>
            <a:endParaRPr lang="en-US"/>
          </a:p>
        </p:txBody>
      </p:sp>
      <p:sp>
        <p:nvSpPr>
          <p:cNvPr id="13" name="Shape 13"/>
          <p:cNvSpPr/>
          <p:nvPr/>
        </p:nvSpPr>
        <p:spPr>
          <a:xfrm>
            <a:off x="777240" y="5577840"/>
            <a:ext cx="10789920" cy="4572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2400" b="1">
                <a:solidFill>
                  <a:srgbClr val="17365D"/>
                </a:solidFill>
                <a:latin typeface="Aptos"/>
              </a:rPr>
              <a:t>Questions and live demonstration</a:t>
            </a:r>
            <a:endParaRPr lang="en-US"/>
          </a:p>
        </p:txBody>
      </p:sp>
      <p:sp>
        <p:nvSpPr>
          <p:cNvPr id="14" name="Shape 14"/>
          <p:cNvSpPr/>
          <p:nvPr/>
        </p:nvSpPr>
        <p:spPr>
          <a:xfrm>
            <a:off x="594360" y="6437376"/>
            <a:ext cx="10881360" cy="228600"/>
          </a:xfrm>
          <a:prstGeom prst="rect">
            <a:avLst/>
          </a:prstGeom>
          <a:noFill/>
          <a:ln>
            <a:noFill/>
          </a:ln>
        </p:spPr>
        <p:txBody>
          <a:bodyPr wrap="square" lIns="109728" rIns="109728" tIns="91440" bIns="54864" anchor="t">
            <a:normAutofit/>
          </a:bodyPr>
          <a:lstStyle/>
          <a:p>
            <a:pPr algn="l">
              <a:lnSpc>
                <a:spcPct val="110000"/>
              </a:lnSpc>
              <a:spcAft>
                <a:spcPts val="650"/>
              </a:spcAft>
            </a:pPr>
            <a:r>
              <a:rPr lang="en-US" sz="900" b="0">
                <a:solidFill>
                  <a:srgbClr val="64748B"/>
                </a:solidFill>
                <a:latin typeface="Aptos"/>
              </a:rPr>
              <a:t>DENR-CAR  |  PERFORMANCE MONITORING SYSTEM                                               13 / 13</a:t>
            </a:r>
            <a:endParaRPr lang="en-US"/>
          </a:p>
        </p:txBody>
      </p:sp>
    </p:spTree>
  </p:cSld>
  <p:clrMapOvr>
    <a:masterClrMapping/>
  </p:clrMapOvr>
</p:sld>
</file>

<file path=ppt/theme/theme1.xml><?xml version="1.0" encoding="utf-8"?>
<a:theme xmlns:a="http://schemas.openxmlformats.org/drawingml/2006/main" name="PMS">
  <a:themeElements>
    <a:clrScheme name="PMS">
      <a:dk1>
        <a:srgbClr val="213547"/>
      </a:dk1>
      <a:lt1>
        <a:srgbClr val="FFFFFF"/>
      </a:lt1>
      <a:dk2>
        <a:srgbClr val="17365D"/>
      </a:dk2>
      <a:lt2>
        <a:srgbClr val="F2F6FA"/>
      </a:lt2>
      <a:accent1>
        <a:srgbClr val="159B94"/>
      </a:accent1>
      <a:accent2>
        <a:srgbClr val="2146B5"/>
      </a:accent2>
      <a:accent3>
        <a:srgbClr val="EF4444"/>
      </a:accent3>
      <a:accent4>
        <a:srgbClr val="F59E0B"/>
      </a:accent4>
      <a:accent5>
        <a:srgbClr val="64748B"/>
      </a:accent5>
      <a:accent6>
        <a:srgbClr val="B9E8E4"/>
      </a:accent6>
      <a:hlink>
        <a:srgbClr val="2146B5"/>
      </a:hlink>
      <a:folHlink>
        <a:srgbClr val="6941A5"/>
      </a:folHlink>
    </a:clrScheme>
    <a:fontScheme name="Aptos">
      <a:majorFont>
        <a:latin typeface="Aptos Display"/>
        <a:ea typeface=""/>
        <a:cs typeface=""/>
      </a:majorFont>
      <a:minorFont>
        <a:latin typeface="Aptos"/>
        <a:ea typeface=""/>
        <a:cs typeface=""/>
      </a:minorFont>
    </a:fontScheme>
    <a:fmtScheme name="PMS">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